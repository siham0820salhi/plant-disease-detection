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0" r:id="rId4"/>
    <p:sldId id="259" r:id="rId5"/>
    <p:sldId id="260" r:id="rId6"/>
    <p:sldId id="286" r:id="rId7"/>
    <p:sldId id="262" r:id="rId8"/>
    <p:sldId id="261" r:id="rId9"/>
    <p:sldId id="265" r:id="rId10"/>
    <p:sldId id="268" r:id="rId11"/>
    <p:sldId id="267" r:id="rId12"/>
    <p:sldId id="266" r:id="rId13"/>
    <p:sldId id="287" r:id="rId14"/>
    <p:sldId id="288" r:id="rId15"/>
    <p:sldId id="281" r:id="rId16"/>
    <p:sldId id="284" r:id="rId17"/>
    <p:sldId id="273" r:id="rId18"/>
    <p:sldId id="274" r:id="rId19"/>
    <p:sldId id="290" r:id="rId20"/>
    <p:sldId id="291" r:id="rId21"/>
    <p:sldId id="292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8F5"/>
    <a:srgbClr val="2D6A4F"/>
    <a:srgbClr val="1C4634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53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1B2E28"/>
                </a:solidFill>
                <a:latin typeface="Calibri"/>
              </a:defRPr>
            </a:pPr>
            <a:r>
              <a:rPr lang="fr-FR" sz="1050" b="0" i="0" u="none" strike="noStrike">
                <a:solidFill>
                  <a:srgbClr val="1B2E28"/>
                </a:solidFill>
                <a:latin typeface="Calibri"/>
              </a:rPr>
              <a:t>Répartition des 15 classes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2616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2616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28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1B2E28"/>
                </a:solidFill>
                <a:latin typeface="Calibri"/>
              </a:rPr>
              <a:t>Répartition finale (23 819 images)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38B-4C01-B0DB-72CEF2A2C85B}"/>
              </c:ext>
            </c:extLst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B-4C01-B0DB-72CEF2A2C85B}"/>
              </c:ext>
            </c:extLst>
          </c:dPt>
          <c:dPt>
            <c:idx val="2"/>
            <c:invertIfNegative val="0"/>
            <c:bubble3D val="0"/>
            <c:spPr>
              <a:solidFill>
                <a:srgbClr val="40916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38B-4C01-B0DB-72CEF2A2C85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B2E2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17632</c:v>
                </c:pt>
                <c:pt idx="1">
                  <c:v>3094</c:v>
                </c:pt>
                <c:pt idx="2">
                  <c:v>3093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38B-4C01-B0DB-72CEF2A2C8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2616B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2616B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E28"/>
                </a:solidFill>
                <a:latin typeface="Calibri"/>
              </a:defRPr>
            </a:pPr>
            <a:r>
              <a:rPr lang="fr-FR" sz="1100" b="0" i="0" u="none" strike="noStrike">
                <a:solidFill>
                  <a:srgbClr val="1B2E28"/>
                </a:solidFill>
                <a:latin typeface="Calibri"/>
              </a:rPr>
              <a:t>Accuracy par ensemble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E28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Entraînement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99.5</c:v>
                </c:pt>
                <c:pt idx="1">
                  <c:v>94.67</c:v>
                </c:pt>
                <c:pt idx="2">
                  <c:v>97.5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18-4DE0-AC8A-EE99C80136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261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261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6.89553E-17</cdr:x>
      <cdr:y>0</cdr:y>
    </cdr:from>
    <cdr:to>
      <cdr:x>1</cdr:x>
      <cdr:y>0.9604</cdr:y>
    </cdr:to>
    <cdr:pic>
      <cdr:nvPicPr>
        <cdr:cNvPr id="2" name="Image 1">
          <a:extLst xmlns:a="http://schemas.openxmlformats.org/drawingml/2006/main">
            <a:ext uri="{FF2B5EF4-FFF2-40B4-BE49-F238E27FC236}">
              <a16:creationId xmlns:a16="http://schemas.microsoft.com/office/drawing/2014/main" id="{6F3254AD-F2A6-F3E4-2493-61316BFAC56D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9331" y="0"/>
          <a:ext cx="4724399" cy="443484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121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4C443-B2B8-3F6B-6AF8-7E5F7046E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52524-DE20-0F46-561C-88F758388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93322-02E3-E47C-D146-0EC46CA3D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B1420-BAE7-A309-D8A2-CB152C0B87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004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697C9-287D-5D23-1625-56C54B554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70516-A78A-4AE9-278C-15A366EEFF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F866C-7B03-98A6-C391-568E30D49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5C737-AF5D-FDD6-4C1F-A1ABF24D1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605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9714-9BE9-F1EA-CCC3-154B1C2B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A9397-C888-B254-8BB9-C0959A45F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F0322-4A99-1D52-E31A-08FFDF3F3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4DA44-C768-ADBB-4BEF-A60CDEFA0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27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A2C1-4A1C-0432-00F9-851F12A88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2F8DD-A3E9-E26A-365B-442A0B3D46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6D90A-9AB0-45C4-B3C1-CF478300B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3D92-B74F-D05A-4B11-6ED156FC1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931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312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5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chart" Target="../charts/chart3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04A3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394960"/>
            <a:ext cx="2377440" cy="2377440"/>
          </a:xfrm>
          <a:prstGeom prst="ellipse">
            <a:avLst/>
          </a:prstGeom>
          <a:solidFill>
            <a:srgbClr val="24594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2926080" cy="2926080"/>
          </a:xfrm>
          <a:prstGeom prst="ellipse">
            <a:avLst/>
          </a:prstGeom>
          <a:solidFill>
            <a:srgbClr val="204A38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95897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2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INTÉGRATEUR  MODULE MLOPS &amp; DATAOPS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874520"/>
            <a:ext cx="9692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des Maladies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Feuilles de Plantes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3453764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et déploiement d'un pipeline MLOps de bout en bout,</a:t>
            </a:r>
            <a:endParaRPr lang="en-US" sz="15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55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dataset brut au modèle en production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77240" y="4318635"/>
            <a:ext cx="2743200" cy="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9" name="Text 7"/>
          <p:cNvSpPr/>
          <p:nvPr/>
        </p:nvSpPr>
        <p:spPr>
          <a:xfrm>
            <a:off x="4844415" y="178689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Hassan II de Casablanca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428625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Ben M'Sik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535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0125" y="480440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500"/>
              </a:lnSpc>
            </a:pP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Hasnae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Mir                        ·   Hiba Ouafi                 ·   Khansaa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Balakrafas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·   Salma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Zamakhchari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 Ibtissam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Essadiki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·  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Chaimaa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Afess</a:t>
            </a:r>
            <a:r>
              <a:rPr lang="en-US" sz="16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·   Oumaima Talbi                            ·   Siham Salhi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9140" y="55397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r>
              <a:rPr lang="en-US" sz="16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Pr. </a:t>
            </a:r>
            <a:r>
              <a:rPr lang="en-US" sz="1600" dirty="0" err="1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</a:t>
            </a:r>
            <a:r>
              <a:rPr lang="en-US" sz="1600" dirty="0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9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aitdaoud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0" y="6419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0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2909FBFB-9842-9BC8-E10D-D54F72109086}"/>
              </a:ext>
            </a:extLst>
          </p:cNvPr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plantes  MLOps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11316" y="1755461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5" name="Image 0" descr="/tmp/deck/assets/icons/target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05" y="1827150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2393" y="17679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1069848" y="2075782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 &amp; </a:t>
            </a:r>
            <a:r>
              <a:rPr lang="en-US" sz="20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projet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29978" y="2843784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9" name="Image 1" descr="/tmp/deck/assets/icons/database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998" y="2915473"/>
            <a:ext cx="368686" cy="36868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1895" y="281611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1115568" y="3130053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données &amp; dataset PlantVillage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520647" y="39227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2" descr="/tmp/deck/assets/icons/layers_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36" y="3994465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1895" y="3840761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115568" y="416239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données — ingestion, qualité, prétraitement</a:t>
            </a:r>
            <a:endParaRPr lang="en-US" dirty="0"/>
          </a:p>
        </p:txBody>
      </p:sp>
      <p:sp>
        <p:nvSpPr>
          <p:cNvPr id="16" name="Shape 11"/>
          <p:cNvSpPr/>
          <p:nvPr/>
        </p:nvSpPr>
        <p:spPr>
          <a:xfrm>
            <a:off x="529978" y="4992437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3" descr="/tmp/deck/assets/icons/gitbranch_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67" y="5064126"/>
            <a:ext cx="368686" cy="36868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1895" y="491975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1115568" y="5306697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avec Dagster</a:t>
            </a:r>
            <a:endParaRPr lang="en-US" dirty="0"/>
          </a:p>
        </p:txBody>
      </p:sp>
      <p:sp>
        <p:nvSpPr>
          <p:cNvPr id="20" name="Shape 14"/>
          <p:cNvSpPr/>
          <p:nvPr/>
        </p:nvSpPr>
        <p:spPr>
          <a:xfrm>
            <a:off x="6263640" y="1764792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1" name="Image 4" descr="/tmp/deck/assets/icons/cpu_1B43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5329" y="1836481"/>
            <a:ext cx="368686" cy="36868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9899" y="168268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6877781" y="2031647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suivi des expériences (MLflow)</a:t>
            </a:r>
            <a:endParaRPr lang="en-US" dirty="0"/>
          </a:p>
        </p:txBody>
      </p:sp>
      <p:sp>
        <p:nvSpPr>
          <p:cNvPr id="24" name="Shape 17"/>
          <p:cNvSpPr/>
          <p:nvPr/>
        </p:nvSpPr>
        <p:spPr>
          <a:xfrm>
            <a:off x="6263640" y="2843784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5" name="Image 5" descr="/tmp/deck/assets/icons/server_1B4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5329" y="2915473"/>
            <a:ext cx="368686" cy="36868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839899" y="276167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6877781" y="3138071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en production — API, Docker, CI/CD, Komodo</a:t>
            </a:r>
            <a:endParaRPr lang="en-US" dirty="0"/>
          </a:p>
        </p:txBody>
      </p:sp>
      <p:sp>
        <p:nvSpPr>
          <p:cNvPr id="28" name="Shape 20"/>
          <p:cNvSpPr/>
          <p:nvPr/>
        </p:nvSpPr>
        <p:spPr>
          <a:xfrm>
            <a:off x="6263640" y="3922776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9" name="Image 6" descr="/tmp/deck/assets/icons/activity_1B43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35329" y="3994465"/>
            <a:ext cx="368686" cy="36868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839899" y="384066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877781" y="4180487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détection de dérive</a:t>
            </a:r>
            <a:endParaRPr lang="en-US" dirty="0"/>
          </a:p>
        </p:txBody>
      </p:sp>
      <p:sp>
        <p:nvSpPr>
          <p:cNvPr id="32" name="Shape 23"/>
          <p:cNvSpPr/>
          <p:nvPr/>
        </p:nvSpPr>
        <p:spPr>
          <a:xfrm>
            <a:off x="6263640" y="5001768"/>
            <a:ext cx="512064" cy="512064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3" name="Image 7" descr="/tmp/deck/assets/icons/flag_1B43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5329" y="5073457"/>
            <a:ext cx="368686" cy="36868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39899" y="4919659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8A9A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6877781" y="5283366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Limites, perspectives &amp; conclusion</a:t>
            </a:r>
            <a:endParaRPr lang="en-US" dirty="0"/>
          </a:p>
        </p:txBody>
      </p:sp>
      <p:sp>
        <p:nvSpPr>
          <p:cNvPr id="36" name="Text 26"/>
          <p:cNvSpPr/>
          <p:nvPr/>
        </p:nvSpPr>
        <p:spPr>
          <a:xfrm>
            <a:off x="548640" y="6538147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plantes — MLOps</a:t>
            </a:r>
            <a:endParaRPr lang="en-US" sz="900" dirty="0"/>
          </a:p>
        </p:txBody>
      </p:sp>
      <p:sp>
        <p:nvSpPr>
          <p:cNvPr id="37" name="Text 27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58692-7CE9-633B-5B88-CD157BF61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3">
            <a:extLst>
              <a:ext uri="{FF2B5EF4-FFF2-40B4-BE49-F238E27FC236}">
                <a16:creationId xmlns:a16="http://schemas.microsoft.com/office/drawing/2014/main" id="{705D8A6E-1C05-3A77-BA1C-EBA6AEBAEBBA}"/>
              </a:ext>
            </a:extLst>
          </p:cNvPr>
          <p:cNvSpPr/>
          <p:nvPr/>
        </p:nvSpPr>
        <p:spPr>
          <a:xfrm>
            <a:off x="7047158" y="1777329"/>
            <a:ext cx="4754880" cy="3246120"/>
          </a:xfrm>
          <a:prstGeom prst="roundRect">
            <a:avLst>
              <a:gd name="adj" fmla="val 253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EB98AA7-149F-D01F-367B-E12E02ED12BB}"/>
              </a:ext>
            </a:extLst>
          </p:cNvPr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: CONTEXTE</a:t>
            </a: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5636A6-DA40-838F-D1E8-7176D8BADA4C}"/>
              </a:ext>
            </a:extLst>
          </p:cNvPr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BD89FB-33F1-4CDD-8723-C777E6247CE4}"/>
              </a:ext>
            </a:extLst>
          </p:cNvPr>
          <p:cNvSpPr/>
          <p:nvPr/>
        </p:nvSpPr>
        <p:spPr>
          <a:xfrm>
            <a:off x="695744" y="1589747"/>
            <a:ext cx="5943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maladies foliaires représentent une menace constante pour les rendements agricoles à l'échelle mondiale.</a:t>
            </a:r>
            <a:endParaRPr lang="en-US" sz="1600" dirty="0"/>
          </a:p>
          <a:p>
            <a:pPr marL="177800" indent="-1778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diagnostic tardif ou erroné conduit à un usage excessif ou inadapté de traitements phytosanitaires,</a:t>
            </a:r>
            <a:endParaRPr lang="en-US" sz="1600" dirty="0"/>
          </a:p>
          <a:p>
            <a:pPr marL="177800" indent="-1778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des conséquences économiques et environnementales négatives.</a:t>
            </a:r>
            <a:endParaRPr lang="en-US" sz="1600" dirty="0"/>
          </a:p>
          <a:p>
            <a:pPr marL="177800" indent="-177800">
              <a:lnSpc>
                <a:spcPts val="18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une expertise phytosanitaire reste souvent limité, en particulier dans les zones rurales.</a:t>
            </a:r>
            <a:endParaRPr lang="en-US" sz="1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38415AF-1219-CEF1-FF7D-4F971DD1DA0D}"/>
              </a:ext>
            </a:extLst>
          </p:cNvPr>
          <p:cNvSpPr/>
          <p:nvPr/>
        </p:nvSpPr>
        <p:spPr>
          <a:xfrm>
            <a:off x="548640" y="4316400"/>
            <a:ext cx="6090704" cy="2082905"/>
          </a:xfrm>
          <a:prstGeom prst="roundRect">
            <a:avLst>
              <a:gd name="adj" fmla="val 253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93D4BB0-276E-A5F7-D4DF-11F4C92D66E2}"/>
              </a:ext>
            </a:extLst>
          </p:cNvPr>
          <p:cNvSpPr/>
          <p:nvPr/>
        </p:nvSpPr>
        <p:spPr>
          <a:xfrm>
            <a:off x="840308" y="4426444"/>
            <a:ext cx="566928" cy="566928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alerttriangle_1B4332.png">
            <a:extLst>
              <a:ext uri="{FF2B5EF4-FFF2-40B4-BE49-F238E27FC236}">
                <a16:creationId xmlns:a16="http://schemas.microsoft.com/office/drawing/2014/main" id="{14BE4365-C50D-3AD2-7902-6E7474E76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78" y="4505814"/>
            <a:ext cx="408188" cy="408188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D1075AB6-EBE5-51A3-6E0C-E9A21B02ADF5}"/>
              </a:ext>
            </a:extLst>
          </p:cNvPr>
          <p:cNvSpPr/>
          <p:nvPr/>
        </p:nvSpPr>
        <p:spPr>
          <a:xfrm>
            <a:off x="1540022" y="4547273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F621417-87BF-4DB9-5541-D245DA1FC0B2}"/>
              </a:ext>
            </a:extLst>
          </p:cNvPr>
          <p:cNvSpPr/>
          <p:nvPr/>
        </p:nvSpPr>
        <p:spPr>
          <a:xfrm>
            <a:off x="1439461" y="4849025"/>
            <a:ext cx="5279253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Comment permettre à un agriculteur, sans expertise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phytopathologique, d'obtenir un diagnostic fiable et rapide</a:t>
            </a:r>
            <a:endParaRPr lang="en-US" sz="15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50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partir d'une simple photographie de feuille ? »</a:t>
            </a:r>
            <a:endParaRPr lang="en-US" sz="15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E4B74C5-B350-70D6-A929-C1417FE9D6D2}"/>
              </a:ext>
            </a:extLst>
          </p:cNvPr>
          <p:cNvSpPr/>
          <p:nvPr/>
        </p:nvSpPr>
        <p:spPr>
          <a:xfrm>
            <a:off x="1242842" y="5882958"/>
            <a:ext cx="4160520" cy="0"/>
          </a:xfrm>
          <a:prstGeom prst="line">
            <a:avLst/>
          </a:prstGeom>
          <a:noFill/>
          <a:ln w="12700">
            <a:solidFill>
              <a:srgbClr val="DCE6E0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85CA38E-B810-D0F2-4621-DA950E8FA85A}"/>
              </a:ext>
            </a:extLst>
          </p:cNvPr>
          <p:cNvSpPr/>
          <p:nvPr/>
        </p:nvSpPr>
        <p:spPr>
          <a:xfrm>
            <a:off x="1242842" y="5935765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vise à identifier, à partir d'une image : la plante concernée, la maladie éventuelle (ou l'état sain), et un score de confiance associé.</a:t>
            </a: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B63A2AF-7754-0040-05B4-FE404709254E}"/>
              </a:ext>
            </a:extLst>
          </p:cNvPr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245AE20-F4B0-E1F5-DD6D-9FF66DC68B6C}"/>
              </a:ext>
            </a:extLst>
          </p:cNvPr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B2A997E-B4AA-433E-A2FE-4DF2C859E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897" y="1990216"/>
            <a:ext cx="4471926" cy="282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19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: OBJECTIFS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48256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tmp/deck/assets/icons/uploadcloud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587191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d'ingestion &amp; prétraitement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68096" y="3082463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Reproductible et automatisé, du téléchargement à la donnée exploitable.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61688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81144" y="2048256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1" name="Image 1" descr="/tmp/deck/assets/icons/cpu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21122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1518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comparée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581144" y="3035808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Entraîner, comparer et enregistrer plusieurs modèles avec un suivi rigoureux des expériences.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74736" y="18288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94192" y="2048256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6" name="Image 2" descr="/tmp/deck/assets/icons/gitbranch_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0" y="21122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2596522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de bout en bout</a:t>
            </a: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394192" y="3035808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→ prétraitement → entraînement, pilotés par un outil dédié.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1304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68096" y="4032504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1" name="Image 3" descr="/tmp/deck/assets/icons/server_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0965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8096" y="4599432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20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prédiction robuste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768096" y="5020056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Testée, conteneurisée et déployée en production.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361688" y="381304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81144" y="4032504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6" name="Image 4" descr="/tmp/deck/assets/icons/activity_1B43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152" y="4096512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58077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continue</a:t>
            </a: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4581144" y="5020056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applicatif et détection de dérive des données en production.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174736" y="381304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94192" y="4032504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1" name="Image 5" descr="/tmp/deck/assets/icons/filetext_1B4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409651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94192" y="4552777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professionnelle</a:t>
            </a:r>
            <a:endParaRPr lang="en-US" dirty="0"/>
          </a:p>
        </p:txBody>
      </p:sp>
      <p:sp>
        <p:nvSpPr>
          <p:cNvPr id="33" name="Text 25"/>
          <p:cNvSpPr/>
          <p:nvPr/>
        </p:nvSpPr>
        <p:spPr>
          <a:xfrm>
            <a:off x="8394192" y="5020056"/>
            <a:ext cx="3172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documentée selon les standards d'un projet en entreprise.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253" y="-11430"/>
            <a:ext cx="12171747" cy="6869430"/>
          </a:xfrm>
          <a:custGeom>
            <a:avLst/>
            <a:gdLst/>
            <a:ahLst/>
            <a:cxnLst/>
            <a:rect l="l" t="t" r="r" b="b"/>
            <a:pathLst>
              <a:path w="18257621" h="10304145">
                <a:moveTo>
                  <a:pt x="0" y="0"/>
                </a:moveTo>
                <a:lnTo>
                  <a:pt x="18257621" y="0"/>
                </a:lnTo>
                <a:lnTo>
                  <a:pt x="18257621" y="10304145"/>
                </a:lnTo>
                <a:lnTo>
                  <a:pt x="0" y="10304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315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 : ORGANISATION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 Agile et équipe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inspirée de la méthode Scrum, adaptée à une équipe de huit </a:t>
            </a:r>
            <a:r>
              <a:rPr lang="en-US" sz="16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</a:t>
            </a:r>
            <a:r>
              <a:rPr lang="en-US" sz="16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chacun responsable d'un périmètre technique précis et complémentaire.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350008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target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56" y="2411456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8986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Hasnae El Mir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49808" y="33558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9856" y="21488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Shape 8"/>
          <p:cNvSpPr/>
          <p:nvPr/>
        </p:nvSpPr>
        <p:spPr>
          <a:xfrm>
            <a:off x="3621024" y="2350008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2" name="Image 1" descr="/tmp/deck/assets/icons/compass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2472" y="2411456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21024" y="28986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 Ouafi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21024" y="33558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291072" y="21488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92240" y="2350008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2" descr="/tmp/deck/assets/icons/uploadcloud_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688" y="2411456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8986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Khansaa Balakrafas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92240" y="33558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: Ingestion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62288" y="2148840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63456" y="2350008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2" name="Image 3" descr="/tmp/deck/assets/icons/shield_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4904" y="2411456"/>
            <a:ext cx="316017" cy="31601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28986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Zamakhchari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363456" y="3355848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: Qualité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48640" y="4105656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4306824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7" name="Image 4" descr="/tmp/deck/assets/icons/gitbranch_1B43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56" y="4368272"/>
            <a:ext cx="316017" cy="3160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9808" y="48554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Ibtissam Essadiki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749808" y="53126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3419856" y="4105656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31" name="Shape 24"/>
          <p:cNvSpPr/>
          <p:nvPr/>
        </p:nvSpPr>
        <p:spPr>
          <a:xfrm>
            <a:off x="3621024" y="4306824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2" name="Image 5" descr="/tmp/deck/assets/icons/cpu_1B433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2472" y="4368272"/>
            <a:ext cx="316017" cy="31601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621024" y="48554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Chaimaa Afess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3621024" y="53126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6291072" y="4105656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492240" y="4306824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7" name="Image 6" descr="/tmp/deck/assets/icons/server_1B433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688" y="4368272"/>
            <a:ext cx="316017" cy="31601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92240" y="48554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Oumaima Talbi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492240" y="53126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600" dirty="0"/>
          </a:p>
        </p:txBody>
      </p:sp>
      <p:sp>
        <p:nvSpPr>
          <p:cNvPr id="40" name="Shape 31"/>
          <p:cNvSpPr/>
          <p:nvPr/>
        </p:nvSpPr>
        <p:spPr>
          <a:xfrm>
            <a:off x="9162288" y="4105656"/>
            <a:ext cx="26974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363456" y="4306824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42" name="Image 7" descr="/tmp/deck/assets/icons/activity_1B43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4904" y="4368272"/>
            <a:ext cx="316017" cy="31601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63456" y="48554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Siham Salhi</a:t>
            </a:r>
            <a:endParaRPr lang="en-US" sz="1600" dirty="0"/>
          </a:p>
        </p:txBody>
      </p:sp>
      <p:sp>
        <p:nvSpPr>
          <p:cNvPr id="44" name="Text 34"/>
          <p:cNvSpPr/>
          <p:nvPr/>
        </p:nvSpPr>
        <p:spPr>
          <a:xfrm>
            <a:off x="9363456" y="5312664"/>
            <a:ext cx="2295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6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: EDA, Monitoring</a:t>
            </a:r>
            <a:endParaRPr lang="en-US" sz="1600" dirty="0"/>
          </a:p>
        </p:txBody>
      </p:sp>
      <p:sp>
        <p:nvSpPr>
          <p:cNvPr id="45" name="Text 35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11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11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1100" dirty="0"/>
          </a:p>
        </p:txBody>
      </p:sp>
      <p:sp>
        <p:nvSpPr>
          <p:cNvPr id="46" name="Text 36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2AA7DEAB-8633-183B-49EF-6125CE939EE9}"/>
              </a:ext>
            </a:extLst>
          </p:cNvPr>
          <p:cNvSpPr/>
          <p:nvPr/>
        </p:nvSpPr>
        <p:spPr>
          <a:xfrm>
            <a:off x="146799" y="2937281"/>
            <a:ext cx="6571241" cy="2212848"/>
          </a:xfrm>
          <a:prstGeom prst="roundRect">
            <a:avLst>
              <a:gd name="adj" fmla="val 253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 : STRATÉGIE DE DONNÉES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dataset PlantVillage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20 638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de feuilles (brutes)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6324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06324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plante × maladie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303520" y="22860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couvertes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2961" y="3293336"/>
            <a:ext cx="634574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Kaggle , kaggle.com/datasets/emmarex/plantdisease, licence libre.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Cultures : Tomate (10 classes), </a:t>
            </a:r>
            <a:r>
              <a:rPr lang="en-US" sz="14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Poivron</a:t>
            </a: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classes), Pomme de terre (3 classes).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identifiée : images en conditions relativement contrôlées (fond neutre, éclairage homogène)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écart à anticiper avec les conditions réelles de terrain (cf. détection de dérive).</a:t>
            </a:r>
            <a:endParaRPr lang="en-US" sz="14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957121432"/>
              </p:ext>
            </p:extLst>
          </p:nvPr>
        </p:nvGraphicFramePr>
        <p:xfrm>
          <a:off x="6934202" y="1592922"/>
          <a:ext cx="4724399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 : INGESTION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83326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des données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89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automatisé via l'API Kaggle (authentification par jeton personnel).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images dans data/raw/, un dossier par classe (convention plante___maladie).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métadonnées (chemin, plante, maladie) et chargement dans DuckDB via l'outil dlt (data load tool), schéma raw, table images_metadata.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de lisibilité (Pillow) pour écarter les fichiers corrompus avant le prétraitement.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5989320" cy="1920240"/>
          </a:xfrm>
          <a:prstGeom prst="roundRect">
            <a:avLst>
              <a:gd name="adj" fmla="val 428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370832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refresh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348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6339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d'arrivée incrémentale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5486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découpé en 21 lots de 1 000 images, chargés en mode append (table images_metadata_incremental) — anticipe la réception progressive de photos d'agriculteurs. Aucune perte ni duplication constatée sur le total (20 638 lignes).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903720" y="1570337"/>
            <a:ext cx="4754880" cy="4389120"/>
          </a:xfrm>
          <a:prstGeom prst="roundRect">
            <a:avLst>
              <a:gd name="adj" fmla="val 187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7178040" y="1798937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utilisés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78040" y="22378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41080" y="223784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 du pipeline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78040" y="271333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78040" y="283220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41080" y="2832209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automatisé des métadonnées dans DuckDB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78040" y="330769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78040" y="342656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41080" y="342656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locale de stockage des métadonnées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78040" y="390205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402092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API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641080" y="402092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automatisé et reproductible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178040" y="449641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178040" y="461528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641080" y="461528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l'intégrité des images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178040" y="509077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178040" y="5209649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641080" y="5209649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Versionnement du code et documentation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178040" y="5685137"/>
            <a:ext cx="4206240" cy="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78040" y="60350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20 638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7178040" y="6446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ingérées au total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 : QUALITÉ (SUITE)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Augmentation, équilibrage et doublons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6726"/>
            <a:ext cx="5440680" cy="3042349"/>
          </a:xfrm>
          <a:prstGeom prst="roundRect">
            <a:avLst>
              <a:gd name="adj" fmla="val 2951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07895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tmp/deck/assets/icons/shuffle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1878304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4471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des données (Albumentations)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475407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 uniquement au jeu d'entraînement (val/test inchangés)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 : rotations, retournements horizontaux, décalages / zoom, variations de luminosité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minimal visé : 1 000 images par classe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" y="3847007"/>
            <a:ext cx="4937760" cy="0"/>
          </a:xfrm>
          <a:prstGeom prst="line">
            <a:avLst/>
          </a:prstGeom>
          <a:noFill/>
          <a:ln w="12700">
            <a:solidFill>
              <a:srgbClr val="DCE6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816209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→ 2,25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420026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classe max / min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(avant → après augmentation)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606727"/>
            <a:ext cx="5468112" cy="3042348"/>
          </a:xfrm>
          <a:prstGeom prst="roundRect">
            <a:avLst>
              <a:gd name="adj" fmla="val 2951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0" y="1807895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4" name="Image 1" descr="/tmp/deck/assets/icons/copy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209" y="1878304"/>
            <a:ext cx="362102" cy="36210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844471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doublons entre splits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6400800" y="2475407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de chaque image, comparaison des empreintes entre train / validation / test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supprimés des splits validation et test pour préserver l'étanchéité train / évaluation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400800" y="3572687"/>
            <a:ext cx="5029200" cy="0"/>
          </a:xfrm>
          <a:prstGeom prst="line">
            <a:avLst/>
          </a:prstGeom>
          <a:noFill/>
          <a:ln w="12700">
            <a:solidFill>
              <a:srgbClr val="DCE6E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0" y="3709847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6400800" y="4251311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 détectés et supprimés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48640" y="4950828"/>
            <a:ext cx="11091672" cy="1371600"/>
          </a:xfrm>
          <a:prstGeom prst="roundRect">
            <a:avLst>
              <a:gd name="adj" fmla="val 6000"/>
            </a:avLst>
          </a:prstGeom>
          <a:solidFill>
            <a:srgbClr val="1B4332"/>
          </a:solidFill>
          <a:ln/>
        </p:spPr>
      </p:sp>
      <p:sp>
        <p:nvSpPr>
          <p:cNvPr id="21" name="Text 17"/>
          <p:cNvSpPr/>
          <p:nvPr/>
        </p:nvSpPr>
        <p:spPr>
          <a:xfrm>
            <a:off x="822960" y="51519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23 819</a:t>
            </a:r>
            <a:endParaRPr lang="en-US" sz="2400" dirty="0"/>
          </a:p>
        </p:txBody>
      </p:sp>
      <p:sp>
        <p:nvSpPr>
          <p:cNvPr id="22" name="Text 18"/>
          <p:cNvSpPr/>
          <p:nvPr/>
        </p:nvSpPr>
        <p:spPr>
          <a:xfrm>
            <a:off x="822960" y="56366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finales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520440" y="51519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3520440" y="56366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par classe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217920" y="51519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2 245</a:t>
            </a:r>
            <a:endParaRPr lang="en-US" sz="2400" dirty="0"/>
          </a:p>
        </p:txBody>
      </p:sp>
      <p:sp>
        <p:nvSpPr>
          <p:cNvPr id="26" name="Text 22"/>
          <p:cNvSpPr/>
          <p:nvPr/>
        </p:nvSpPr>
        <p:spPr>
          <a:xfrm>
            <a:off x="6217920" y="56366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max. par classe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915400" y="515199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2400" dirty="0"/>
          </a:p>
        </p:txBody>
      </p:sp>
      <p:sp>
        <p:nvSpPr>
          <p:cNvPr id="28" name="Text 24"/>
          <p:cNvSpPr/>
          <p:nvPr/>
        </p:nvSpPr>
        <p:spPr>
          <a:xfrm>
            <a:off x="8915400" y="56366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équilibrées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 : PRÉTRAITEMENT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 et split stratifié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Redimensionnement uniforme à 224 × 224 pixels (conversion préalable au format RGB).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des pixels dans l'intervalle [0, 1] (appliquée au chargement, lors de l'entraînement).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stratifiée train / validation / test avec train_test_split (Scikit-learn), option stratify et random_state = 42 pour la reproductibilité.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5943600" cy="2148840"/>
          </a:xfrm>
          <a:prstGeom prst="roundRect">
            <a:avLst>
              <a:gd name="adj" fmla="val 3830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1605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 (YAML)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601489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autorisés : JPG, JPEG, PNG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attendues : 224 × 224 pixels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autorisés &amp; liste des 15 classes attendues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7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obligatoire d'images corrompues ou de doublons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858000" y="1691640"/>
          <a:ext cx="48006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858000" y="4709160"/>
            <a:ext cx="4800600" cy="1417320"/>
          </a:xfrm>
          <a:prstGeom prst="roundRect">
            <a:avLst>
              <a:gd name="adj" fmla="val 580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4864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858000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4864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458200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0058400" y="4864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0058400" y="53492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086600" y="5669280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1000" i="1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Remarque : les fichiers JPEG sauvegardés sur disque conservent des valeurs [0, 255] ; la normalisation est réappliquée au chargement pour l'entraînement.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 : QUALITÉ DES DONNÉES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Contrôle qualité avec Great Expectations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06044" y="1750423"/>
            <a:ext cx="6066764" cy="277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 (pytest) : classes présentes, dimensions, lisibilité des fichiers, déséquilibre entre classes, absence de doublons.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valide automatiquement les métadonnées : formats attendus, colonnes obligatoires, absence de valeurs vides.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contrôles formalisés : valeurs de split autorisées, split non-vide, classe non-vide, nombre de colonnes = 4, chemin non-vide, nombre d'images &gt; 0, aucune image corrompue, aucun doublon cross-split.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rapport HTML documente automatiquement l'ensemble des vérifications effectuées.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763" y="4897637"/>
            <a:ext cx="6537960" cy="1051560"/>
          </a:xfrm>
          <a:prstGeom prst="roundRect">
            <a:avLst>
              <a:gd name="adj" fmla="val 7826"/>
            </a:avLst>
          </a:prstGeom>
          <a:solidFill>
            <a:srgbClr val="1B4332"/>
          </a:solidFill>
          <a:ln/>
        </p:spPr>
      </p:sp>
      <p:sp>
        <p:nvSpPr>
          <p:cNvPr id="6" name="Shape 4"/>
          <p:cNvSpPr/>
          <p:nvPr/>
        </p:nvSpPr>
        <p:spPr>
          <a:xfrm>
            <a:off x="357363" y="5080517"/>
            <a:ext cx="566928" cy="566928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tmp/deck/assets/icons/checkcirc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33" y="5159887"/>
            <a:ext cx="408188" cy="4081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88883" y="5016509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88883" y="5400557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Great Expectations réussis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60683" y="5171957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final : dataset conforme, prêt pour l'entraînement.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889033" y="5593551"/>
            <a:ext cx="3639312" cy="645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- Rapport de qualité des données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(Great Expectations, export HTML)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2EDA1DB1-6B70-2D30-0C63-316605E99F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2317" y="1499616"/>
            <a:ext cx="5350920" cy="35500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6 : MODÉLISATION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 et suivi des expériences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06863" y="12618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benchmark reproductible compare quatre architectures, avec sélection du modèle, des époques et de la stratégie de déséquilibre depuis un script unique (train.py), appelable en CLI ou depuis l'orchestrateur.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84832"/>
            <a:ext cx="2624328" cy="1005840"/>
          </a:xfrm>
          <a:prstGeom prst="roundRect">
            <a:avLst>
              <a:gd name="adj" fmla="val 8182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13232" y="22128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baseline_cnn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2569464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simple, from scratch (référence)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084832"/>
            <a:ext cx="2624328" cy="1005840"/>
          </a:xfrm>
          <a:prstGeom prst="roundRect">
            <a:avLst>
              <a:gd name="adj" fmla="val 8182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520440" y="22128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256946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(ImageNet)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63056" y="2084832"/>
            <a:ext cx="2624328" cy="1005840"/>
          </a:xfrm>
          <a:prstGeom prst="roundRect">
            <a:avLst>
              <a:gd name="adj" fmla="val 8182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327648" y="22128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7648" y="256946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retenu en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70264" y="2084832"/>
            <a:ext cx="2624328" cy="1005840"/>
          </a:xfrm>
          <a:prstGeom prst="roundRect">
            <a:avLst>
              <a:gd name="adj" fmla="val 8182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9134856" y="2212848"/>
            <a:ext cx="2295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EfficientNetB0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34856" y="2569464"/>
            <a:ext cx="2295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(ImageNet)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310128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9" name="Image 0" descr="/tmp/deck/assets/icons/shuffle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566160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71600" y="35387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Stratégies de déséquilibre comparées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77240" y="3877056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· class_weight (scikit-learn, balanced) · augmentation_p4 (hors ligne) · augmentation_online (à la volée) · both — avec résolution automatique fondée sur le ratio de déséquilibre mesuré.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72200" y="3310128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400800" y="3502152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1" descr="/tmp/deck/assets/icons/shield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566160"/>
            <a:ext cx="329184" cy="329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35387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b="1" dirty="0"/>
              <a:t>Pipeline d'Entraînement</a:t>
            </a:r>
          </a:p>
        </p:txBody>
      </p:sp>
      <p:sp>
        <p:nvSpPr>
          <p:cNvPr id="26" name="Text 22"/>
          <p:cNvSpPr/>
          <p:nvPr/>
        </p:nvSpPr>
        <p:spPr>
          <a:xfrm>
            <a:off x="6400800" y="3877056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fr-FR" sz="1200" b="1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Prétraitement adapté :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200" dirty="0" err="1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Batchs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de 32 (224×224) avec </a:t>
            </a:r>
            <a:r>
              <a:rPr lang="fr-FR" sz="1200" dirty="0" err="1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preprocess_input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spécifique à chaque modèle </a:t>
            </a:r>
            <a:endParaRPr lang="frc-Latn-001" sz="1200" dirty="0">
              <a:solidFill>
                <a:srgbClr val="52616B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fr-FR" sz="1200" b="1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Gestion du déséquilibre :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Prise en compte dynamique de </a:t>
            </a:r>
            <a:r>
              <a:rPr lang="fr-FR" sz="1200" dirty="0" err="1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class_weight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des images augmentées sur les 15 classes.</a:t>
            </a:r>
          </a:p>
          <a:p>
            <a:pPr lvl="0"/>
            <a:r>
              <a:rPr lang="fr-FR" sz="1200" b="1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Optimisation &amp; Callbacks :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Optimiseur Adam combiné à </a:t>
            </a:r>
            <a:r>
              <a:rPr lang="fr-FR" sz="1200" dirty="0" err="1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EarlyStopping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</a:t>
            </a:r>
            <a:r>
              <a:rPr lang="fr-FR" sz="1200" dirty="0" err="1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ReduceLROnPlateau</a:t>
            </a:r>
            <a:r>
              <a:rPr lang="fr-FR" sz="1200" dirty="0">
                <a:solidFill>
                  <a:srgbClr val="5261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pour une convergence optimale.</a:t>
            </a:r>
          </a:p>
        </p:txBody>
      </p:sp>
      <p:sp>
        <p:nvSpPr>
          <p:cNvPr id="27" name="Shape 23"/>
          <p:cNvSpPr/>
          <p:nvPr/>
        </p:nvSpPr>
        <p:spPr>
          <a:xfrm>
            <a:off x="548640" y="5257800"/>
            <a:ext cx="11091672" cy="1234440"/>
          </a:xfrm>
          <a:prstGeom prst="roundRect">
            <a:avLst>
              <a:gd name="adj" fmla="val 666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28" name="Text 24"/>
          <p:cNvSpPr/>
          <p:nvPr/>
        </p:nvSpPr>
        <p:spPr>
          <a:xfrm>
            <a:off x="822960" y="5422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ResNet50 (transfer learning)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822960" y="5815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en production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069080" y="54681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1" name="Text 27"/>
          <p:cNvSpPr/>
          <p:nvPr/>
        </p:nvSpPr>
        <p:spPr>
          <a:xfrm>
            <a:off x="3547872" y="5815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(alias production)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272784" y="5422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fr-FR" b="1" dirty="0">
                <a:solidFill>
                  <a:srgbClr val="63997D"/>
                </a:solidFill>
              </a:rPr>
              <a:t>augmentation_p4</a:t>
            </a:r>
          </a:p>
        </p:txBody>
      </p:sp>
      <p:sp>
        <p:nvSpPr>
          <p:cNvPr id="33" name="Text 29"/>
          <p:cNvSpPr/>
          <p:nvPr/>
        </p:nvSpPr>
        <p:spPr>
          <a:xfrm>
            <a:off x="6272784" y="5815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retenue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8997696" y="542239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 macro (test)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8997696" y="58155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 de sélection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2" y="-3629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010245"/>
            <a:ext cx="3721000" cy="447555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350" y="1010245"/>
            <a:ext cx="3721149" cy="450466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1010245"/>
            <a:ext cx="3721000" cy="447555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57" y="4340407"/>
            <a:ext cx="3435250" cy="9810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67779" y="243975"/>
            <a:ext cx="1124322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u="none" dirty="0">
                <a:solidFill>
                  <a:srgbClr val="1B4D3E"/>
                </a:solidFill>
                <a:latin typeface="Plus Jakarta Sans ExtraBold"/>
              </a:rPr>
              <a:t>CHAPITRE 6 — RÉSULTATS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1000" y="409575"/>
            <a:ext cx="11811000" cy="297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 u="none" dirty="0" err="1">
                <a:solidFill>
                  <a:srgbClr val="1B4D3E"/>
                </a:solidFill>
                <a:latin typeface="Plus Jakarta Sans ExtraBold"/>
              </a:rPr>
              <a:t>Évaluation</a:t>
            </a:r>
            <a:r>
              <a:rPr sz="1950" b="0" i="0" u="none" dirty="0">
                <a:solidFill>
                  <a:srgbClr val="1B4D3E"/>
                </a:solidFill>
                <a:latin typeface="Plus Jakarta Sans ExtraBold"/>
              </a:rPr>
              <a:t>, Tracking </a:t>
            </a:r>
            <a:r>
              <a:rPr sz="1950" b="0" i="0" u="none" dirty="0" err="1">
                <a:solidFill>
                  <a:srgbClr val="1B4D3E"/>
                </a:solidFill>
                <a:latin typeface="Plus Jakarta Sans ExtraBold"/>
              </a:rPr>
              <a:t>MLflow</a:t>
            </a:r>
            <a:r>
              <a:rPr sz="1950" b="0" i="0" u="none" dirty="0">
                <a:solidFill>
                  <a:srgbClr val="1B4D3E"/>
                </a:solidFill>
                <a:latin typeface="Plus Jakarta Sans ExtraBold"/>
              </a:rPr>
              <a:t> et Production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1000" y="735210"/>
            <a:ext cx="11430000" cy="166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5"/>
              </a:lnSpc>
            </a:pPr>
            <a:r>
              <a:rPr sz="1100" b="0" i="0" u="none" dirty="0">
                <a:solidFill>
                  <a:srgbClr val="64748B"/>
                </a:solidFill>
                <a:latin typeface="Plus Jakarta Sans Medium"/>
              </a:rPr>
              <a:t>Validation </a:t>
            </a:r>
            <a:r>
              <a:rPr sz="1100" b="0" i="0" u="none" dirty="0" err="1">
                <a:solidFill>
                  <a:srgbClr val="64748B"/>
                </a:solidFill>
                <a:latin typeface="Plus Jakarta Sans Medium"/>
              </a:rPr>
              <a:t>expérimentale</a:t>
            </a:r>
            <a:r>
              <a:rPr sz="1100" b="0" i="0" u="none" dirty="0">
                <a:solidFill>
                  <a:srgbClr val="64748B"/>
                </a:solidFill>
                <a:latin typeface="Plus Jakarta Sans Medium"/>
              </a:rPr>
              <a:t> sur 15 pathologies et </a:t>
            </a:r>
            <a:r>
              <a:rPr sz="1100" b="0" i="0" u="none" dirty="0" err="1">
                <a:solidFill>
                  <a:srgbClr val="64748B"/>
                </a:solidFill>
                <a:latin typeface="Plus Jakarta Sans Medium"/>
              </a:rPr>
              <a:t>sélection</a:t>
            </a:r>
            <a:r>
              <a:rPr sz="1100" b="0" i="0" u="none" dirty="0">
                <a:solidFill>
                  <a:srgbClr val="64748B"/>
                </a:solidFill>
                <a:latin typeface="Plus Jakarta Sans Medium"/>
              </a:rPr>
              <a:t> du </a:t>
            </a:r>
            <a:r>
              <a:rPr sz="1100" b="0" i="0" u="none" dirty="0" err="1">
                <a:solidFill>
                  <a:srgbClr val="64748B"/>
                </a:solidFill>
                <a:latin typeface="Plus Jakarta Sans Medium"/>
              </a:rPr>
              <a:t>modèle</a:t>
            </a:r>
            <a:r>
              <a:rPr sz="1100" b="0" i="0" u="none" dirty="0">
                <a:solidFill>
                  <a:srgbClr val="64748B"/>
                </a:solidFill>
                <a:latin typeface="Plus Jakarta Sans Medium"/>
              </a:rPr>
              <a:t> champion.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7600" y="6572250"/>
            <a:ext cx="5334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64748B"/>
                </a:solidFill>
                <a:latin typeface="Plus Jakarta Sans SemiBold"/>
              </a:rPr>
              <a:t>Page 16 / 16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76225"/>
            <a:ext cx="129629" cy="104775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23900" y="6301680"/>
            <a:ext cx="8651081" cy="1428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Model Registry &amp; Politique Anti-Régression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900" y="1153120"/>
            <a:ext cx="339698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>
                <a:solidFill>
                  <a:srgbClr val="1B4D3E"/>
                </a:solidFill>
                <a:latin typeface="Plus Jakarta Sans"/>
              </a:rPr>
              <a:t>Métriques de Performance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875" y="1372195"/>
            <a:ext cx="3435250" cy="9525"/>
          </a:xfrm>
          <a:prstGeom prst="rect">
            <a:avLst/>
          </a:prstGeom>
          <a:solidFill>
            <a:srgbClr val="E0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56836" y="4415505"/>
            <a:ext cx="3225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 dirty="0">
                <a:solidFill>
                  <a:srgbClr val="1B4D3E"/>
                </a:solidFill>
                <a:latin typeface="Plus Jakarta Sans ExtraBold"/>
              </a:rPr>
              <a:t>MÉTRIQUE REINE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0629" y="4597764"/>
            <a:ext cx="3225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800" b="0" i="0" u="none" dirty="0">
                <a:solidFill>
                  <a:srgbClr val="1B4D3E"/>
                </a:solidFill>
                <a:latin typeface="Plus Jakarta Sans ExtraBold"/>
              </a:rPr>
              <a:t>0.9756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6836" y="4857676"/>
            <a:ext cx="3225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 i="0" u="none" dirty="0">
                <a:solidFill>
                  <a:srgbClr val="1B4D3E"/>
                </a:solidFill>
                <a:latin typeface="Plus Jakarta Sans ExtraBold"/>
              </a:rPr>
              <a:t>F1-SCORE MACRO (TEST)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225" y="5044388"/>
            <a:ext cx="32257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37"/>
              </a:lnSpc>
            </a:pPr>
            <a:r>
              <a:rPr sz="750" b="0" i="0" u="none">
                <a:solidFill>
                  <a:srgbClr val="64748B"/>
                </a:solidFill>
                <a:latin typeface="Plus Jakarta Sans"/>
              </a:rPr>
              <a:t>Garantit</a:t>
            </a:r>
            <a:r>
              <a:rPr sz="7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50" b="0" i="0" u="none" dirty="0" err="1">
                <a:solidFill>
                  <a:srgbClr val="64748B"/>
                </a:solidFill>
                <a:latin typeface="Plus Jakarta Sans"/>
              </a:rPr>
              <a:t>une</a:t>
            </a:r>
            <a:r>
              <a:rPr sz="7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50" b="0" i="0" u="none" dirty="0" err="1">
                <a:solidFill>
                  <a:srgbClr val="64748B"/>
                </a:solidFill>
                <a:latin typeface="Plus Jakarta Sans"/>
              </a:rPr>
              <a:t>détection</a:t>
            </a:r>
            <a:r>
              <a:rPr sz="750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50" b="0" i="0" u="none" dirty="0" err="1">
                <a:solidFill>
                  <a:srgbClr val="64748B"/>
                </a:solidFill>
                <a:latin typeface="Plus Jakarta Sans"/>
              </a:rPr>
              <a:t>équitable</a:t>
            </a:r>
            <a:r>
              <a:rPr sz="750" b="0" i="0" u="none" dirty="0">
                <a:solidFill>
                  <a:srgbClr val="64748B"/>
                </a:solidFill>
                <a:latin typeface="Plus Jakarta Sans"/>
              </a:rPr>
              <a:t> des 15 classes sans masquer les maladies </a:t>
            </a:r>
            <a:r>
              <a:rPr sz="750" b="0" i="0" u="none" dirty="0" err="1">
                <a:solidFill>
                  <a:srgbClr val="64748B"/>
                </a:solidFill>
                <a:latin typeface="Plus Jakarta Sans"/>
              </a:rPr>
              <a:t>rares</a:t>
            </a:r>
            <a:r>
              <a:rPr sz="750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59200" y="1153120"/>
            <a:ext cx="3417145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>
                <a:solidFill>
                  <a:srgbClr val="1B4D3E"/>
                </a:solidFill>
                <a:latin typeface="Plus Jakarta Sans"/>
              </a:rPr>
              <a:t>Matrice de Confusion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78225" y="1372195"/>
            <a:ext cx="3435399" cy="9525"/>
          </a:xfrm>
          <a:prstGeom prst="rect">
            <a:avLst/>
          </a:prstGeom>
          <a:solidFill>
            <a:srgbClr val="E0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78225" y="4726002"/>
            <a:ext cx="11906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1" i="0" u="none" dirty="0" err="1">
                <a:solidFill>
                  <a:srgbClr val="64748B"/>
                </a:solidFill>
                <a:latin typeface="Plus Jakarta Sans"/>
              </a:rPr>
              <a:t>Analyse</a:t>
            </a: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 des </a:t>
            </a:r>
            <a:r>
              <a:rPr sz="787" b="1" i="0" u="none" dirty="0" err="1">
                <a:solidFill>
                  <a:srgbClr val="64748B"/>
                </a:solidFill>
                <a:latin typeface="Plus Jakarta Sans"/>
              </a:rPr>
              <a:t>prédictions</a:t>
            </a: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 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32750" y="1153120"/>
            <a:ext cx="3396987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12" b="1" i="0" u="none">
                <a:solidFill>
                  <a:srgbClr val="1B4D3E"/>
                </a:solidFill>
                <a:latin typeface="Plus Jakarta Sans"/>
              </a:rPr>
              <a:t>Courbes d'Apprentissage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32725" y="1372195"/>
            <a:ext cx="3435250" cy="9525"/>
          </a:xfrm>
          <a:prstGeom prst="rect">
            <a:avLst/>
          </a:prstGeom>
          <a:solidFill>
            <a:srgbClr val="E0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175573" y="4355017"/>
            <a:ext cx="343525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12" b="1" i="0" u="none" dirty="0">
                <a:solidFill>
                  <a:srgbClr val="64748B"/>
                </a:solidFill>
                <a:latin typeface="Plus Jakarta Sans"/>
              </a:rPr>
              <a:t>learning_curves.png (Loss &amp; Accuracy)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32724" y="4597416"/>
            <a:ext cx="12287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1" i="0" u="none" dirty="0" err="1">
                <a:solidFill>
                  <a:srgbClr val="64748B"/>
                </a:solidFill>
                <a:latin typeface="Plus Jakarta Sans"/>
              </a:rPr>
              <a:t>Stabilité</a:t>
            </a: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 &amp; Convergence :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6075" y="6464944"/>
            <a:ext cx="85725" cy="952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875" y="1169789"/>
            <a:ext cx="133350" cy="128587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8225" y="1169789"/>
            <a:ext cx="114300" cy="12858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294039" y="4545028"/>
            <a:ext cx="17907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2" b="1" i="0" u="none" dirty="0">
                <a:solidFill>
                  <a:srgbClr val="64748B"/>
                </a:solidFill>
                <a:latin typeface="Plus Jakarta Sans"/>
              </a:rPr>
              <a:t>confusion_matrix.png (</a:t>
            </a:r>
            <a:r>
              <a:rPr sz="712" b="1" i="0" u="none" dirty="0" err="1">
                <a:solidFill>
                  <a:srgbClr val="64748B"/>
                </a:solidFill>
                <a:latin typeface="Plus Jakarta Sans"/>
              </a:rPr>
              <a:t>MLflow</a:t>
            </a:r>
            <a:r>
              <a:rPr sz="712" b="1" i="0" u="none" dirty="0">
                <a:solidFill>
                  <a:srgbClr val="64748B"/>
                </a:solidFill>
                <a:latin typeface="Plus Jakarta Sans"/>
              </a:rPr>
              <a:t> Artifact)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435375" y="5160756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71984" y="4995455"/>
            <a:ext cx="3302049" cy="121572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Diagonale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lang="fr-FR" sz="790" dirty="0">
                <a:solidFill>
                  <a:srgbClr val="64748B"/>
                </a:solidFill>
                <a:latin typeface="Plus Jakarta Sans"/>
              </a:rPr>
              <a:t>bleue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nettement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dominante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sur les 15 pathologies.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36957" y="5337835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77344" y="5140158"/>
            <a:ext cx="3302049" cy="1349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Faux pos./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nég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. quasi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nuls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entre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espèces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(Tomate vs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Patate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vs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Poivron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33684" y="5014539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54423" y="5311107"/>
            <a:ext cx="3302049" cy="269974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100% de rappel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sur la pomme de terre saine malgré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l'échantillon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réduit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2725" y="1169789"/>
            <a:ext cx="133350" cy="128587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99350" y="4845468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99400" y="4821742"/>
            <a:ext cx="3301900" cy="1349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Décroissance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conjointe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et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fluide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de la Loss (train vs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val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).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5748" y="6051387"/>
            <a:ext cx="7587002" cy="505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280"/>
              </a:lnSpc>
            </a:pP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L'alias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déplacé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F1-macro du nouveau run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strictement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celui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place.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conditions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réelles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un run de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d'époques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été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enregistré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déplacer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l'alias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resté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version la plus </a:t>
            </a:r>
            <a:r>
              <a:rPr lang="en-US" sz="1400" dirty="0" err="1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performante</a:t>
            </a: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0" name="TextBox 79"/>
          <p:cNvSpPr txBox="1"/>
          <p:nvPr/>
        </p:nvSpPr>
        <p:spPr>
          <a:xfrm>
            <a:off x="8299400" y="5028464"/>
            <a:ext cx="3301900" cy="1349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Écart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très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resserré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: </a:t>
            </a: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absence </a:t>
            </a:r>
            <a:r>
              <a:rPr sz="787" b="1" i="0" u="none" dirty="0" err="1">
                <a:solidFill>
                  <a:srgbClr val="64748B"/>
                </a:solidFill>
                <a:latin typeface="Plus Jakarta Sans"/>
              </a:rPr>
              <a:t>totale</a:t>
            </a:r>
            <a:r>
              <a:rPr sz="787" b="1" i="0" u="none" dirty="0">
                <a:solidFill>
                  <a:srgbClr val="64748B"/>
                </a:solidFill>
                <a:latin typeface="Plus Jakarta Sans"/>
              </a:rPr>
              <a:t> de </a:t>
            </a:r>
            <a:r>
              <a:rPr sz="787" b="1" i="0" u="none" dirty="0" err="1">
                <a:solidFill>
                  <a:srgbClr val="64748B"/>
                </a:solidFill>
                <a:latin typeface="Plus Jakarta Sans"/>
              </a:rPr>
              <a:t>surapprentissage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(overfitting).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96075" y="5062640"/>
            <a:ext cx="5715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08925" y="5238032"/>
            <a:ext cx="3301900" cy="134987"/>
          </a:xfrm>
          <a:prstGeom prst="rect">
            <a:avLst/>
          </a:prstGeom>
          <a:noFill/>
        </p:spPr>
        <p:txBody>
          <a:bodyPr wrap="square" lIns="57150" tIns="0" rIns="0" bIns="0" anchor="t">
            <a:spAutoFit/>
          </a:bodyPr>
          <a:lstStyle/>
          <a:p>
            <a:pPr algn="l">
              <a:lnSpc>
                <a:spcPts val="1063"/>
              </a:lnSpc>
            </a:pP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Stabilisation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optimale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atteinte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787" b="0" i="0" u="none" dirty="0" err="1">
                <a:solidFill>
                  <a:srgbClr val="64748B"/>
                </a:solidFill>
                <a:latin typeface="Plus Jakarta Sans"/>
              </a:rPr>
              <a:t>dès</a:t>
            </a:r>
            <a:r>
              <a:rPr sz="787" b="0" i="0" u="none" dirty="0">
                <a:solidFill>
                  <a:srgbClr val="64748B"/>
                </a:solidFill>
                <a:latin typeface="Plus Jakarta Sans"/>
              </a:rPr>
              <a:t> la 8ᵉ époque.</a:t>
            </a:r>
          </a:p>
        </p:txBody>
      </p:sp>
      <p:graphicFrame>
        <p:nvGraphicFramePr>
          <p:cNvPr id="87" name="Chart 0">
            <a:extLst>
              <a:ext uri="{FF2B5EF4-FFF2-40B4-BE49-F238E27FC236}">
                <a16:creationId xmlns:a16="http://schemas.microsoft.com/office/drawing/2014/main" id="{E197E216-63DE-033E-0ACA-50D97E1D2057}"/>
              </a:ext>
            </a:extLst>
          </p:cNvPr>
          <p:cNvGraphicFramePr/>
          <p:nvPr/>
        </p:nvGraphicFramePr>
        <p:xfrm>
          <a:off x="485757" y="1853853"/>
          <a:ext cx="3511318" cy="2386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pic>
        <p:nvPicPr>
          <p:cNvPr id="89" name="Picture 88">
            <a:extLst>
              <a:ext uri="{FF2B5EF4-FFF2-40B4-BE49-F238E27FC236}">
                <a16:creationId xmlns:a16="http://schemas.microsoft.com/office/drawing/2014/main" id="{0883C25B-D671-0DF9-A99C-6105C79D0F3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4424" y="1660327"/>
            <a:ext cx="3337171" cy="2780976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4459D172-1574-06BF-F7B9-FA78081C7A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4916" y="2289284"/>
            <a:ext cx="3501327" cy="19506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18E3CA5-DA9F-8002-02D4-615958D66DFC}"/>
              </a:ext>
            </a:extLst>
          </p:cNvPr>
          <p:cNvSpPr txBox="1"/>
          <p:nvPr/>
        </p:nvSpPr>
        <p:spPr>
          <a:xfrm>
            <a:off x="485757" y="5688896"/>
            <a:ext cx="62338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— politique anti-</a:t>
            </a:r>
            <a:r>
              <a:rPr lang="en-US" sz="1400" b="1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14384-D2C5-2801-7974-EF471A0EF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17">
            <a:extLst>
              <a:ext uri="{FF2B5EF4-FFF2-40B4-BE49-F238E27FC236}">
                <a16:creationId xmlns:a16="http://schemas.microsoft.com/office/drawing/2014/main" id="{1F0AB507-8401-49B7-0757-1B77660CF3EA}"/>
              </a:ext>
            </a:extLst>
          </p:cNvPr>
          <p:cNvSpPr/>
          <p:nvPr/>
        </p:nvSpPr>
        <p:spPr>
          <a:xfrm>
            <a:off x="6228454" y="4047989"/>
            <a:ext cx="5808036" cy="2231696"/>
          </a:xfrm>
          <a:prstGeom prst="roundRect">
            <a:avLst>
              <a:gd name="adj" fmla="val 486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DD24529-B72D-52FF-702B-5FDC8946849B}"/>
              </a:ext>
            </a:extLst>
          </p:cNvPr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 : ORCHESTRATION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AF8C74-2177-EFD0-8B2A-E34DE562F9EB}"/>
              </a:ext>
            </a:extLst>
          </p:cNvPr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avec Dagster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153690-9893-F3CC-A027-10CB9CD68955}"/>
              </a:ext>
            </a:extLst>
          </p:cNvPr>
          <p:cNvSpPr/>
          <p:nvPr/>
        </p:nvSpPr>
        <p:spPr>
          <a:xfrm>
            <a:off x="563880" y="110185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Dagster repose sur le paradigme des Software-Defined Assets : chaque étape du pipeline est un actif de données explicite, offrant gouvernance et traçabilité du lignage.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6370F01-55FF-867C-9B15-C17216E5EC64}"/>
              </a:ext>
            </a:extLst>
          </p:cNvPr>
          <p:cNvSpPr/>
          <p:nvPr/>
        </p:nvSpPr>
        <p:spPr>
          <a:xfrm>
            <a:off x="324702" y="166364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FA9D090-0AC4-F511-78B6-CA1D0621A13A}"/>
              </a:ext>
            </a:extLst>
          </p:cNvPr>
          <p:cNvSpPr/>
          <p:nvPr/>
        </p:nvSpPr>
        <p:spPr>
          <a:xfrm>
            <a:off x="553302" y="1892248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uploadcloud_1B4332.png">
            <a:extLst>
              <a:ext uri="{FF2B5EF4-FFF2-40B4-BE49-F238E27FC236}">
                <a16:creationId xmlns:a16="http://schemas.microsoft.com/office/drawing/2014/main" id="{FB286801-4660-F7D1-72F2-3B7824780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11" y="1962657"/>
            <a:ext cx="362102" cy="362102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1AF01720-4D9F-863F-D18A-E0A096A1C67C}"/>
              </a:ext>
            </a:extLst>
          </p:cNvPr>
          <p:cNvSpPr/>
          <p:nvPr/>
        </p:nvSpPr>
        <p:spPr>
          <a:xfrm>
            <a:off x="553302" y="25323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asset_ingestion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C110CC60-EE6D-9C5D-0314-68977FAADFB6}"/>
              </a:ext>
            </a:extLst>
          </p:cNvPr>
          <p:cNvSpPr/>
          <p:nvPr/>
        </p:nvSpPr>
        <p:spPr>
          <a:xfrm>
            <a:off x="553302" y="28706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Parcourt data/raw/, extrait les métadonnées, charge dans DuckDB via dlt.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1AB446A-D34A-BDC9-4CDF-D6B9B7079587}"/>
              </a:ext>
            </a:extLst>
          </p:cNvPr>
          <p:cNvSpPr/>
          <p:nvPr/>
        </p:nvSpPr>
        <p:spPr>
          <a:xfrm>
            <a:off x="3900006" y="2532328"/>
            <a:ext cx="252374" cy="21945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B6988F4-BBE0-79B9-941B-038D8B10C808}"/>
              </a:ext>
            </a:extLst>
          </p:cNvPr>
          <p:cNvSpPr/>
          <p:nvPr/>
        </p:nvSpPr>
        <p:spPr>
          <a:xfrm>
            <a:off x="4256622" y="166364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7D9DC97-0230-7727-7230-FB3179A63365}"/>
              </a:ext>
            </a:extLst>
          </p:cNvPr>
          <p:cNvSpPr/>
          <p:nvPr/>
        </p:nvSpPr>
        <p:spPr>
          <a:xfrm>
            <a:off x="4485222" y="1892248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3" name="Image 1" descr="/tmp/deck/assets/icons/shield_1B4332.png">
            <a:extLst>
              <a:ext uri="{FF2B5EF4-FFF2-40B4-BE49-F238E27FC236}">
                <a16:creationId xmlns:a16="http://schemas.microsoft.com/office/drawing/2014/main" id="{EBF08298-61C7-0747-DD6B-D3CD0FB0A4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631" y="1962657"/>
            <a:ext cx="362102" cy="362102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C4128728-166A-615A-A6D4-AF4F38E5FF0E}"/>
              </a:ext>
            </a:extLst>
          </p:cNvPr>
          <p:cNvSpPr/>
          <p:nvPr/>
        </p:nvSpPr>
        <p:spPr>
          <a:xfrm>
            <a:off x="4485222" y="25323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asset_preprocessing</a:t>
            </a:r>
            <a:endParaRPr lang="en-US" sz="14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45B3BB6-2895-653D-267E-6F6D46488C10}"/>
              </a:ext>
            </a:extLst>
          </p:cNvPr>
          <p:cNvSpPr/>
          <p:nvPr/>
        </p:nvSpPr>
        <p:spPr>
          <a:xfrm>
            <a:off x="4485222" y="28706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la conformité au Data Contract, redimensionne, partitionne en train / val / test.</a:t>
            </a:r>
            <a:endParaRPr lang="en-US" sz="12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9F9BBB14-3353-627D-711A-AD014DB37715}"/>
              </a:ext>
            </a:extLst>
          </p:cNvPr>
          <p:cNvSpPr/>
          <p:nvPr/>
        </p:nvSpPr>
        <p:spPr>
          <a:xfrm>
            <a:off x="7831926" y="2532328"/>
            <a:ext cx="252374" cy="219456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D1FA24D-1FBD-3832-2E07-7B402B721F08}"/>
              </a:ext>
            </a:extLst>
          </p:cNvPr>
          <p:cNvSpPr/>
          <p:nvPr/>
        </p:nvSpPr>
        <p:spPr>
          <a:xfrm>
            <a:off x="8188542" y="1663648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7556DE0B-50F9-D5B2-0EC1-681126796C91}"/>
              </a:ext>
            </a:extLst>
          </p:cNvPr>
          <p:cNvSpPr/>
          <p:nvPr/>
        </p:nvSpPr>
        <p:spPr>
          <a:xfrm>
            <a:off x="8417142" y="1892248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9" name="Image 2" descr="/tmp/deck/assets/icons/cpu_1B4332.png">
            <a:extLst>
              <a:ext uri="{FF2B5EF4-FFF2-40B4-BE49-F238E27FC236}">
                <a16:creationId xmlns:a16="http://schemas.microsoft.com/office/drawing/2014/main" id="{27801195-A494-F7EB-1C93-87912553E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551" y="1962657"/>
            <a:ext cx="362102" cy="362102"/>
          </a:xfrm>
          <a:prstGeom prst="rect">
            <a:avLst/>
          </a:prstGeom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A1AA9FFF-4652-28F4-6712-042412A83CE0}"/>
              </a:ext>
            </a:extLst>
          </p:cNvPr>
          <p:cNvSpPr/>
          <p:nvPr/>
        </p:nvSpPr>
        <p:spPr>
          <a:xfrm>
            <a:off x="8417142" y="253232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asset_train_model</a:t>
            </a:r>
            <a:endParaRPr lang="en-US" sz="14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204843F-F2C0-CA7C-5744-6533FCBB8447}"/>
              </a:ext>
            </a:extLst>
          </p:cNvPr>
          <p:cNvSpPr/>
          <p:nvPr/>
        </p:nvSpPr>
        <p:spPr>
          <a:xfrm>
            <a:off x="8417142" y="287065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 le modèle, journalise hyperparamètres, métriques et artefacts dans MLflow.</a:t>
            </a:r>
            <a:endParaRPr lang="en-US" sz="1200" dirty="0"/>
          </a:p>
        </p:txBody>
      </p:sp>
      <p:sp>
        <p:nvSpPr>
          <p:cNvPr id="22" name="Shape 17">
            <a:extLst>
              <a:ext uri="{FF2B5EF4-FFF2-40B4-BE49-F238E27FC236}">
                <a16:creationId xmlns:a16="http://schemas.microsoft.com/office/drawing/2014/main" id="{A299E2CB-D0AE-BFF8-458C-0A84ED30EB08}"/>
              </a:ext>
            </a:extLst>
          </p:cNvPr>
          <p:cNvSpPr/>
          <p:nvPr/>
        </p:nvSpPr>
        <p:spPr>
          <a:xfrm>
            <a:off x="336833" y="3949648"/>
            <a:ext cx="5555816" cy="2231696"/>
          </a:xfrm>
          <a:prstGeom prst="roundRect">
            <a:avLst>
              <a:gd name="adj" fmla="val 486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0FFD2600-84F3-50B8-14ED-D230DEE12F1C}"/>
              </a:ext>
            </a:extLst>
          </p:cNvPr>
          <p:cNvSpPr/>
          <p:nvPr/>
        </p:nvSpPr>
        <p:spPr>
          <a:xfrm>
            <a:off x="515977" y="4047989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4" name="Image 3" descr="/tmp/deck/assets/icons/calendar_1B4332.png">
            <a:extLst>
              <a:ext uri="{FF2B5EF4-FFF2-40B4-BE49-F238E27FC236}">
                <a16:creationId xmlns:a16="http://schemas.microsoft.com/office/drawing/2014/main" id="{BF208E11-175D-5C8C-FF7F-BCD1C3C093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985" y="4111997"/>
            <a:ext cx="329184" cy="329184"/>
          </a:xfrm>
          <a:prstGeom prst="rect">
            <a:avLst/>
          </a:prstGeom>
        </p:spPr>
      </p:pic>
      <p:sp>
        <p:nvSpPr>
          <p:cNvPr id="25" name="Text 19">
            <a:extLst>
              <a:ext uri="{FF2B5EF4-FFF2-40B4-BE49-F238E27FC236}">
                <a16:creationId xmlns:a16="http://schemas.microsoft.com/office/drawing/2014/main" id="{4B8F0973-7381-0483-2366-AD6F0AD4F690}"/>
              </a:ext>
            </a:extLst>
          </p:cNvPr>
          <p:cNvSpPr/>
          <p:nvPr/>
        </p:nvSpPr>
        <p:spPr>
          <a:xfrm>
            <a:off x="1066485" y="411330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</a:t>
            </a:r>
            <a:endParaRPr lang="en-US" sz="14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21F074BF-DA04-D14A-964C-A05270159B9C}"/>
              </a:ext>
            </a:extLst>
          </p:cNvPr>
          <p:cNvSpPr/>
          <p:nvPr/>
        </p:nvSpPr>
        <p:spPr>
          <a:xfrm>
            <a:off x="986893" y="4167619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"0 0 * * *" — exécution quotidienne à minuit UTC de l'ingestion incrémentale, la validation qualité et l'actualisation des données. Un job manuel permet de déclencher le flux complet à la demande.</a:t>
            </a:r>
            <a:endParaRPr lang="en-US" sz="12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39AE4DBB-78CD-7975-B1A5-67E376C1808B}"/>
              </a:ext>
            </a:extLst>
          </p:cNvPr>
          <p:cNvSpPr/>
          <p:nvPr/>
        </p:nvSpPr>
        <p:spPr>
          <a:xfrm>
            <a:off x="451969" y="5027707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9" name="Image 4" descr="/tmp/deck/assets/icons/alertcircle_1B4332.png">
            <a:extLst>
              <a:ext uri="{FF2B5EF4-FFF2-40B4-BE49-F238E27FC236}">
                <a16:creationId xmlns:a16="http://schemas.microsoft.com/office/drawing/2014/main" id="{9516280F-87B2-37BD-C914-61A7E0A624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77" y="5091715"/>
            <a:ext cx="329184" cy="329184"/>
          </a:xfrm>
          <a:prstGeom prst="rect">
            <a:avLst/>
          </a:prstGeom>
        </p:spPr>
      </p:pic>
      <p:sp>
        <p:nvSpPr>
          <p:cNvPr id="30" name="Text 23">
            <a:extLst>
              <a:ext uri="{FF2B5EF4-FFF2-40B4-BE49-F238E27FC236}">
                <a16:creationId xmlns:a16="http://schemas.microsoft.com/office/drawing/2014/main" id="{AF00B72D-7BE7-6AB3-7F1D-9296C9F68848}"/>
              </a:ext>
            </a:extLst>
          </p:cNvPr>
          <p:cNvSpPr/>
          <p:nvPr/>
        </p:nvSpPr>
        <p:spPr>
          <a:xfrm>
            <a:off x="973177" y="512773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fail-fast</a:t>
            </a:r>
            <a:endParaRPr lang="en-US" sz="14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ADFC2572-4DC8-18DB-5791-0C6608D1B4F3}"/>
              </a:ext>
            </a:extLst>
          </p:cNvPr>
          <p:cNvSpPr/>
          <p:nvPr/>
        </p:nvSpPr>
        <p:spPr>
          <a:xfrm>
            <a:off x="962820" y="5180538"/>
            <a:ext cx="49098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d'anomalie (indisponibilité de la base, violation du Data Contract), Dagster interrompt immédiatement l'exécution et neutralise les étapes en aval : aucun modèle n'est entraîné sur des données invalides.</a:t>
            </a:r>
            <a:endParaRPr lang="en-US" sz="1200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4B9CF1AF-331E-26F3-ACE0-AD9742F456D8}"/>
              </a:ext>
            </a:extLst>
          </p:cNvPr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6D8E425B-8063-9F05-B105-7702A1D02FEC}"/>
              </a:ext>
            </a:extLst>
          </p:cNvPr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37" name="Image 36">
            <a:extLst>
              <a:ext uri="{FF2B5EF4-FFF2-40B4-BE49-F238E27FC236}">
                <a16:creationId xmlns:a16="http://schemas.microsoft.com/office/drawing/2014/main" id="{06363489-537C-C264-377D-067DB0E61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545" y="4299075"/>
            <a:ext cx="5578477" cy="170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101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48C50-6116-DD04-760F-179883A6B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4">
            <a:extLst>
              <a:ext uri="{FF2B5EF4-FFF2-40B4-BE49-F238E27FC236}">
                <a16:creationId xmlns:a16="http://schemas.microsoft.com/office/drawing/2014/main" id="{D652F16C-4F2A-0950-887C-37CF6A7C9E58}"/>
              </a:ext>
            </a:extLst>
          </p:cNvPr>
          <p:cNvSpPr/>
          <p:nvPr/>
        </p:nvSpPr>
        <p:spPr>
          <a:xfrm>
            <a:off x="2473167" y="4327254"/>
            <a:ext cx="4480561" cy="2530746"/>
          </a:xfrm>
          <a:prstGeom prst="roundRect">
            <a:avLst>
              <a:gd name="adj" fmla="val 545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5B11A759-87F6-61C3-1C51-BD9C3C5B459D}"/>
              </a:ext>
            </a:extLst>
          </p:cNvPr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7 : DÉPLOIEMENT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C82A5B-C7E5-96A6-3247-050E296AD790}"/>
              </a:ext>
            </a:extLst>
          </p:cNvPr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 </a:t>
            </a:r>
            <a:r>
              <a:rPr lang="en-US" sz="2900" b="1" dirty="0" err="1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</a:t>
            </a: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: FastAPI</a:t>
            </a:r>
            <a:endParaRPr lang="en-US" sz="2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70E259-4D31-A6DA-3CE0-80EF091B7A35}"/>
              </a:ext>
            </a:extLst>
          </p:cNvPr>
          <p:cNvSpPr/>
          <p:nvPr/>
        </p:nvSpPr>
        <p:spPr>
          <a:xfrm>
            <a:off x="548640" y="1192071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ResNet50 est chargé en mémoire une seule fois au démarrage. Chaque prédiction suit le pipeline : redimensionnement 224×224 → normalisation [0,1] → forward pass → softmax → prédiction.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141A8F5-75F7-DA19-1D15-61F0C9EC01CA}"/>
              </a:ext>
            </a:extLst>
          </p:cNvPr>
          <p:cNvSpPr/>
          <p:nvPr/>
        </p:nvSpPr>
        <p:spPr>
          <a:xfrm>
            <a:off x="548640" y="1859583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1B4B3C6-9208-F7BD-20CA-1AD03BF70639}"/>
              </a:ext>
            </a:extLst>
          </p:cNvPr>
          <p:cNvSpPr/>
          <p:nvPr/>
        </p:nvSpPr>
        <p:spPr>
          <a:xfrm>
            <a:off x="749808" y="2060751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checkcircle_1B4332.png">
            <a:extLst>
              <a:ext uri="{FF2B5EF4-FFF2-40B4-BE49-F238E27FC236}">
                <a16:creationId xmlns:a16="http://schemas.microsoft.com/office/drawing/2014/main" id="{8700A81A-0845-CF18-CB5A-89CA83232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2124759"/>
            <a:ext cx="329184" cy="329184"/>
          </a:xfrm>
          <a:prstGeom prst="rect">
            <a:avLst/>
          </a:prstGeom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C9D9973D-9087-AD3E-DE7B-80BB9E5C08CA}"/>
              </a:ext>
            </a:extLst>
          </p:cNvPr>
          <p:cNvSpPr/>
          <p:nvPr/>
        </p:nvSpPr>
        <p:spPr>
          <a:xfrm>
            <a:off x="1325880" y="2097327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/health</a:t>
            </a:r>
            <a:endParaRPr lang="en-US" sz="14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A1FB9A5-EF76-E2B2-ED01-0081DA14E6C9}"/>
              </a:ext>
            </a:extLst>
          </p:cNvPr>
          <p:cNvSpPr/>
          <p:nvPr/>
        </p:nvSpPr>
        <p:spPr>
          <a:xfrm>
            <a:off x="749808" y="2664255"/>
            <a:ext cx="3209544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DFC5CF6A-17BF-67A2-1EE6-5D2B0C1F5CE7}"/>
              </a:ext>
            </a:extLst>
          </p:cNvPr>
          <p:cNvSpPr/>
          <p:nvPr/>
        </p:nvSpPr>
        <p:spPr>
          <a:xfrm>
            <a:off x="841248" y="2709975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0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{"status":"ok","model_version":"resnet50-v10-production"}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D9D0A7D-4B42-185F-5334-D0857369D2C6}"/>
              </a:ext>
            </a:extLst>
          </p:cNvPr>
          <p:cNvSpPr/>
          <p:nvPr/>
        </p:nvSpPr>
        <p:spPr>
          <a:xfrm>
            <a:off x="749808" y="3551223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que l'API et le modèle sont opérationnels.</a:t>
            </a:r>
            <a:endParaRPr lang="en-US" sz="12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144ECE5-B134-BC04-C197-4148C9D3034B}"/>
              </a:ext>
            </a:extLst>
          </p:cNvPr>
          <p:cNvSpPr/>
          <p:nvPr/>
        </p:nvSpPr>
        <p:spPr>
          <a:xfrm>
            <a:off x="4361688" y="1859583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031E2D5-0A74-FFD0-5018-D4D3DA95DC3C}"/>
              </a:ext>
            </a:extLst>
          </p:cNvPr>
          <p:cNvSpPr/>
          <p:nvPr/>
        </p:nvSpPr>
        <p:spPr>
          <a:xfrm>
            <a:off x="4562856" y="2060751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4" name="Image 1" descr="/tmp/deck/assets/icons/barchart_1B4332.png">
            <a:extLst>
              <a:ext uri="{FF2B5EF4-FFF2-40B4-BE49-F238E27FC236}">
                <a16:creationId xmlns:a16="http://schemas.microsoft.com/office/drawing/2014/main" id="{7B87A936-51B0-4E9F-0541-28BF1720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2124759"/>
            <a:ext cx="329184" cy="32918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8A620A2F-67AE-8E71-6BB7-22913B99EE23}"/>
              </a:ext>
            </a:extLst>
          </p:cNvPr>
          <p:cNvSpPr/>
          <p:nvPr/>
        </p:nvSpPr>
        <p:spPr>
          <a:xfrm>
            <a:off x="5138928" y="2097327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/metrics</a:t>
            </a:r>
            <a:endParaRPr lang="en-US" sz="145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BFE81244-60B0-FF60-E339-59B06CA00B79}"/>
              </a:ext>
            </a:extLst>
          </p:cNvPr>
          <p:cNvSpPr/>
          <p:nvPr/>
        </p:nvSpPr>
        <p:spPr>
          <a:xfrm>
            <a:off x="4562856" y="2664255"/>
            <a:ext cx="3209544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0E9F3D44-C310-C682-55B1-F548BD1C5F4F}"/>
              </a:ext>
            </a:extLst>
          </p:cNvPr>
          <p:cNvSpPr/>
          <p:nvPr/>
        </p:nvSpPr>
        <p:spPr>
          <a:xfrm>
            <a:off x="4654296" y="2709975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0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{"total_requests","average_latency_ms","disease_distribution"}</a:t>
            </a:r>
            <a:endParaRPr lang="en-US" sz="10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2EE0295-6F94-8DDB-D641-BA65DDEA4E19}"/>
              </a:ext>
            </a:extLst>
          </p:cNvPr>
          <p:cNvSpPr/>
          <p:nvPr/>
        </p:nvSpPr>
        <p:spPr>
          <a:xfrm>
            <a:off x="4562856" y="3551223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d'utilisation en temps réel.</a:t>
            </a:r>
            <a:endParaRPr lang="en-US" sz="12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7247D76C-C691-1016-A433-AC45DC3DC902}"/>
              </a:ext>
            </a:extLst>
          </p:cNvPr>
          <p:cNvSpPr/>
          <p:nvPr/>
        </p:nvSpPr>
        <p:spPr>
          <a:xfrm>
            <a:off x="8174736" y="1859583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789FF77-F1AE-EEAF-EC3D-079CC6AF0AEA}"/>
              </a:ext>
            </a:extLst>
          </p:cNvPr>
          <p:cNvSpPr/>
          <p:nvPr/>
        </p:nvSpPr>
        <p:spPr>
          <a:xfrm>
            <a:off x="8375904" y="2060751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1" name="Image 2" descr="/tmp/deck/assets/icons/uploadcloud_1B4332.png">
            <a:extLst>
              <a:ext uri="{FF2B5EF4-FFF2-40B4-BE49-F238E27FC236}">
                <a16:creationId xmlns:a16="http://schemas.microsoft.com/office/drawing/2014/main" id="{1B70B80C-21F5-CCCF-43A1-7B332B0F8C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2124759"/>
            <a:ext cx="329184" cy="329184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FE2B784F-4484-FF8F-4A86-79768C5DA8D6}"/>
              </a:ext>
            </a:extLst>
          </p:cNvPr>
          <p:cNvSpPr/>
          <p:nvPr/>
        </p:nvSpPr>
        <p:spPr>
          <a:xfrm>
            <a:off x="8951976" y="2097327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/predict</a:t>
            </a:r>
            <a:endParaRPr lang="en-US" sz="145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B7660D6-ACE7-39C7-4106-E980EF9BB14E}"/>
              </a:ext>
            </a:extLst>
          </p:cNvPr>
          <p:cNvSpPr/>
          <p:nvPr/>
        </p:nvSpPr>
        <p:spPr>
          <a:xfrm>
            <a:off x="8375904" y="2664255"/>
            <a:ext cx="3209544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F2FC438B-6719-AC24-0033-65C856D365CA}"/>
              </a:ext>
            </a:extLst>
          </p:cNvPr>
          <p:cNvSpPr/>
          <p:nvPr/>
        </p:nvSpPr>
        <p:spPr>
          <a:xfrm>
            <a:off x="8467344" y="2709975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110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{"plante","maladie","confidence" ∈ [0,1]}</a:t>
            </a:r>
            <a:endParaRPr lang="en-US" sz="11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076450B-7741-CCE6-D74E-8BB027C3D399}"/>
              </a:ext>
            </a:extLst>
          </p:cNvPr>
          <p:cNvSpPr/>
          <p:nvPr/>
        </p:nvSpPr>
        <p:spPr>
          <a:xfrm>
            <a:off x="8375904" y="3551223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une image, retourne le diagnostic complet.</a:t>
            </a:r>
            <a:endParaRPr lang="en-US" sz="12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2524183-FF1D-E95B-8021-2AC11BE0DB67}"/>
              </a:ext>
            </a:extLst>
          </p:cNvPr>
          <p:cNvSpPr/>
          <p:nvPr/>
        </p:nvSpPr>
        <p:spPr>
          <a:xfrm>
            <a:off x="329229" y="5343511"/>
            <a:ext cx="21598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interactive Swagger (/docs)</a:t>
            </a:r>
            <a:endParaRPr lang="en-US" sz="1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56FD9E36-96CD-C07D-3F3F-482BCDECF90B}"/>
              </a:ext>
            </a:extLst>
          </p:cNvPr>
          <p:cNvSpPr/>
          <p:nvPr/>
        </p:nvSpPr>
        <p:spPr>
          <a:xfrm>
            <a:off x="7565799" y="4735435"/>
            <a:ext cx="4480561" cy="1508760"/>
          </a:xfrm>
          <a:prstGeom prst="roundRect">
            <a:avLst>
              <a:gd name="adj" fmla="val 545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F1880847-7564-B64F-378C-A2F041A0DDB9}"/>
              </a:ext>
            </a:extLst>
          </p:cNvPr>
          <p:cNvSpPr/>
          <p:nvPr/>
        </p:nvSpPr>
        <p:spPr>
          <a:xfrm>
            <a:off x="7718450" y="4809533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32" name="Image 4" descr="/tmp/deck/assets/icons/code_1B4332.png">
            <a:extLst>
              <a:ext uri="{FF2B5EF4-FFF2-40B4-BE49-F238E27FC236}">
                <a16:creationId xmlns:a16="http://schemas.microsoft.com/office/drawing/2014/main" id="{FC6BD9D6-568F-7E06-C5EE-E8A1572BF3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2458" y="4873541"/>
            <a:ext cx="329184" cy="329184"/>
          </a:xfrm>
          <a:prstGeom prst="rect">
            <a:avLst/>
          </a:prstGeom>
        </p:spPr>
      </p:pic>
      <p:sp>
        <p:nvSpPr>
          <p:cNvPr id="33" name="Text 26">
            <a:extLst>
              <a:ext uri="{FF2B5EF4-FFF2-40B4-BE49-F238E27FC236}">
                <a16:creationId xmlns:a16="http://schemas.microsoft.com/office/drawing/2014/main" id="{90BBDF8F-1109-C3B2-F9D8-15011E646482}"/>
              </a:ext>
            </a:extLst>
          </p:cNvPr>
          <p:cNvSpPr/>
          <p:nvPr/>
        </p:nvSpPr>
        <p:spPr>
          <a:xfrm>
            <a:off x="8321040" y="480731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 automatique</a:t>
            </a:r>
            <a:endParaRPr lang="en-US" sz="1400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C18D0C1-161C-7F97-DF97-A2FC45239F24}"/>
              </a:ext>
            </a:extLst>
          </p:cNvPr>
          <p:cNvSpPr/>
          <p:nvPr/>
        </p:nvSpPr>
        <p:spPr>
          <a:xfrm>
            <a:off x="8111642" y="5153513"/>
            <a:ext cx="39894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génère une documentation OpenAPI interactive sur /docs, permettant de tester chaque endpoint directement depuis le navigateur — utile pour le débogage et la démonstration.</a:t>
            </a:r>
            <a:endParaRPr lang="en-US" sz="1200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8E410E5-C1E7-5934-7131-D4C2F9B2BE8D}"/>
              </a:ext>
            </a:extLst>
          </p:cNvPr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657C49F-CA37-90DB-1E7A-3D262C99E1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641" y="4566231"/>
            <a:ext cx="4263612" cy="2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97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>
            <a:extLst>
              <a:ext uri="{FF2B5EF4-FFF2-40B4-BE49-F238E27FC236}">
                <a16:creationId xmlns:a16="http://schemas.microsoft.com/office/drawing/2014/main" id="{51F26616-8C31-4B33-9F8A-7D076B1E83EC}"/>
              </a:ext>
            </a:extLst>
          </p:cNvPr>
          <p:cNvSpPr/>
          <p:nvPr/>
        </p:nvSpPr>
        <p:spPr>
          <a:xfrm>
            <a:off x="4321744" y="4449138"/>
            <a:ext cx="3012708" cy="1218049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7 : DÉPLOIEMENT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Conteneurisation et intégration continue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22342"/>
            <a:ext cx="5486400" cy="2069168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5620" y="1324148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tmp/deck/assets/icons/box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29" y="1394557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5700" y="13698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3 services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68680" y="1840784"/>
            <a:ext cx="4983480" cy="373074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8458" y="1718615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491498" y="173105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34782" y="174106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86029" y="2289706"/>
            <a:ext cx="4983480" cy="389222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1291" y="221010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495224" y="2196389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87420" y="2185561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Registry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75008" y="2777033"/>
            <a:ext cx="4983480" cy="339339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7" name="Text 14"/>
          <p:cNvSpPr/>
          <p:nvPr/>
        </p:nvSpPr>
        <p:spPr>
          <a:xfrm>
            <a:off x="952780" y="2669953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dagster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490051" y="2654457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779110" y="266323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182716" y="1306678"/>
            <a:ext cx="5468112" cy="2084832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7084" y="1327709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2" name="Image 1" descr="/tmp/deck/assets/icons/gitpr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7493" y="1398118"/>
            <a:ext cx="362102" cy="36210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981444" y="1373429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— GitHub Actions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387084" y="1940357"/>
            <a:ext cx="1200150" cy="86868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/>
        </p:spPr>
      </p:sp>
      <p:sp>
        <p:nvSpPr>
          <p:cNvPr id="25" name="Text 21"/>
          <p:cNvSpPr/>
          <p:nvPr/>
        </p:nvSpPr>
        <p:spPr>
          <a:xfrm>
            <a:off x="6432804" y="1986077"/>
            <a:ext cx="1108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(ruff)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7591806" y="2260397"/>
            <a:ext cx="91440" cy="13716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27" name="Shape 23"/>
          <p:cNvSpPr/>
          <p:nvPr/>
        </p:nvSpPr>
        <p:spPr>
          <a:xfrm>
            <a:off x="7678674" y="1940357"/>
            <a:ext cx="1200150" cy="86868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/>
        </p:spPr>
      </p:sp>
      <p:sp>
        <p:nvSpPr>
          <p:cNvPr id="28" name="Text 24"/>
          <p:cNvSpPr/>
          <p:nvPr/>
        </p:nvSpPr>
        <p:spPr>
          <a:xfrm>
            <a:off x="7724394" y="1986077"/>
            <a:ext cx="1108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(pytest, 8+ tests)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8883396" y="2260397"/>
            <a:ext cx="91440" cy="13716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30" name="Shape 26"/>
          <p:cNvSpPr/>
          <p:nvPr/>
        </p:nvSpPr>
        <p:spPr>
          <a:xfrm>
            <a:off x="8970264" y="1940357"/>
            <a:ext cx="1200150" cy="86868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/>
        </p:spPr>
      </p:sp>
      <p:sp>
        <p:nvSpPr>
          <p:cNvPr id="31" name="Text 27"/>
          <p:cNvSpPr/>
          <p:nvPr/>
        </p:nvSpPr>
        <p:spPr>
          <a:xfrm>
            <a:off x="9015984" y="1986077"/>
            <a:ext cx="1108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 l'image Docker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10174986" y="2260397"/>
            <a:ext cx="91440" cy="137160"/>
          </a:xfrm>
          <a:prstGeom prst="chevron">
            <a:avLst/>
          </a:prstGeom>
          <a:solidFill>
            <a:srgbClr val="40916C"/>
          </a:solidFill>
          <a:ln/>
        </p:spPr>
      </p:sp>
      <p:sp>
        <p:nvSpPr>
          <p:cNvPr id="33" name="Shape 29"/>
          <p:cNvSpPr/>
          <p:nvPr/>
        </p:nvSpPr>
        <p:spPr>
          <a:xfrm>
            <a:off x="10261854" y="1940357"/>
            <a:ext cx="1200150" cy="868680"/>
          </a:xfrm>
          <a:prstGeom prst="roundRect">
            <a:avLst>
              <a:gd name="adj" fmla="val 6316"/>
            </a:avLst>
          </a:prstGeom>
          <a:solidFill>
            <a:srgbClr val="1B4332"/>
          </a:solidFill>
          <a:ln/>
        </p:spPr>
      </p:sp>
      <p:sp>
        <p:nvSpPr>
          <p:cNvPr id="34" name="Text 30"/>
          <p:cNvSpPr/>
          <p:nvPr/>
        </p:nvSpPr>
        <p:spPr>
          <a:xfrm>
            <a:off x="10307574" y="1986077"/>
            <a:ext cx="110871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5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437376" y="2626157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(test cassé, code mal formaté), le push est rejeté : seul du code testé et formaté arrive en production.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plantes — MLOps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4BE0FC8B-1959-4ABD-9F4D-898634748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412" y="3513679"/>
            <a:ext cx="3715837" cy="2730774"/>
          </a:xfrm>
          <a:prstGeom prst="rect">
            <a:avLst/>
          </a:prstGeom>
        </p:spPr>
      </p:pic>
      <p:pic>
        <p:nvPicPr>
          <p:cNvPr id="43" name="Image 42">
            <a:extLst>
              <a:ext uri="{FF2B5EF4-FFF2-40B4-BE49-F238E27FC236}">
                <a16:creationId xmlns:a16="http://schemas.microsoft.com/office/drawing/2014/main" id="{3380416E-6DCB-4AAD-A03C-14A72532F6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5876" y="3528263"/>
            <a:ext cx="4320324" cy="30597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Shape 2">
            <a:extLst>
              <a:ext uri="{FF2B5EF4-FFF2-40B4-BE49-F238E27FC236}">
                <a16:creationId xmlns:a16="http://schemas.microsoft.com/office/drawing/2014/main" id="{B54B1D36-3013-4E95-B7C2-769CE8BA963E}"/>
              </a:ext>
            </a:extLst>
          </p:cNvPr>
          <p:cNvSpPr/>
          <p:nvPr/>
        </p:nvSpPr>
        <p:spPr>
          <a:xfrm>
            <a:off x="4419177" y="4589811"/>
            <a:ext cx="2782040" cy="961512"/>
          </a:xfrm>
          <a:prstGeom prst="roundRect">
            <a:avLst>
              <a:gd name="adj" fmla="val 2857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02BF3A8D-902C-4507-A024-EEBD13BD4170}"/>
              </a:ext>
            </a:extLst>
          </p:cNvPr>
          <p:cNvSpPr/>
          <p:nvPr/>
        </p:nvSpPr>
        <p:spPr>
          <a:xfrm>
            <a:off x="4419177" y="4636922"/>
            <a:ext cx="27820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200" i="1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d'échec (test cassé, code mal formaté), le push est rejeté : seul du code testé et formaté arrive en production.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7 : MISE EN PRODUCTION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 en production : Komodo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22171" y="1507758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Komodo orchestre le déploiement Docker sur un serveur mutualisé, via une interface web, sans accès SSH direct requis.</a:t>
            </a:r>
            <a:endParaRPr lang="en-US" sz="12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Stack pointe vers le dépôt GitHub (branche main) : Komodo clone le code, construit les images à partir des Dockerfiles, télécharge l'image MLflow officielle, puis démarre les conteneurs.</a:t>
            </a:r>
            <a:endParaRPr lang="en-US" sz="120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remappes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vers la plage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attribuee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lequipe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(ports internes des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inchanges</a:t>
            </a:r>
            <a:r>
              <a:rPr lang="en-US" sz="12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3789947"/>
            <a:ext cx="6327648" cy="2377440"/>
          </a:xfrm>
          <a:prstGeom prst="roundRect">
            <a:avLst>
              <a:gd name="adj" fmla="val 4500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fr-FR" dirty="0">
              <a:solidFill>
                <a:srgbClr val="F3F8F5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32618" y="3831951"/>
            <a:ext cx="530352" cy="530352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7" name="Image 0" descr="/tmp/deck/assets/icons/clou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867" y="3906200"/>
            <a:ext cx="381853" cy="38185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05745" y="4048941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: detection_des_maladies_des_feuilles_de_plantes</a:t>
            </a:r>
            <a:endParaRPr lang="en-US" sz="1400" dirty="0">
              <a:solidFill>
                <a:srgbClr val="2D6A4F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1554480" y="4983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54480" y="5358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3154680" y="4983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154680" y="5358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actifs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4754880" y="4983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41fa51d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754880" y="535838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déployé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6875258" y="1499616"/>
            <a:ext cx="4782312" cy="4294792"/>
          </a:xfrm>
          <a:prstGeom prst="roundRect">
            <a:avLst>
              <a:gd name="adj" fmla="val 19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86600" y="161391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 err="1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Etapes</a:t>
            </a:r>
            <a:r>
              <a:rPr lang="en-US" sz="140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 </a:t>
            </a:r>
            <a:r>
              <a:rPr lang="en-US" sz="1400" b="1" kern="0" spc="100" dirty="0" err="1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Deploiment</a:t>
            </a:r>
            <a:r>
              <a:rPr lang="en-US" sz="1400" b="1" kern="0" spc="1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Komodo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DB5D967-B6F3-483B-A1F9-7DFEBC19C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07" y="4512322"/>
            <a:ext cx="6125448" cy="1448468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DE1873AD-B89E-475F-B12C-C4C1D6522A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542" y="2048256"/>
            <a:ext cx="4567901" cy="365228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58388-D844-2BB9-B66B-B373042AC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BE342D-7420-E696-D8D7-BF007252870B}"/>
              </a:ext>
            </a:extLst>
          </p:cNvPr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 : MONITORING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39A969-2CE8-C65F-A4E9-803A9B98EC55}"/>
              </a:ext>
            </a:extLst>
          </p:cNvPr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en temps réel</a:t>
            </a:r>
            <a:endParaRPr lang="en-US" sz="2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A8D631-6724-659A-D7E3-23A21C72C73B}"/>
              </a:ext>
            </a:extLst>
          </p:cNvPr>
          <p:cNvSpPr/>
          <p:nvPr/>
        </p:nvSpPr>
        <p:spPr>
          <a:xfrm>
            <a:off x="418054" y="1316214"/>
            <a:ext cx="5676974" cy="2553451"/>
          </a:xfrm>
          <a:prstGeom prst="roundRect">
            <a:avLst>
              <a:gd name="adj" fmla="val 2687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B743E03-1727-C2AB-A802-5880834D9D07}"/>
              </a:ext>
            </a:extLst>
          </p:cNvPr>
          <p:cNvSpPr/>
          <p:nvPr/>
        </p:nvSpPr>
        <p:spPr>
          <a:xfrm>
            <a:off x="527257" y="1469240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tmp/deck/assets/icons/activity_1B4332.png">
            <a:extLst>
              <a:ext uri="{FF2B5EF4-FFF2-40B4-BE49-F238E27FC236}">
                <a16:creationId xmlns:a16="http://schemas.microsoft.com/office/drawing/2014/main" id="{C8DE2681-F3D2-EAB7-2117-78F8877CB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66" y="1539649"/>
            <a:ext cx="362102" cy="362102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0EC2EDC5-9079-B677-6B74-51320D09C0B1}"/>
              </a:ext>
            </a:extLst>
          </p:cNvPr>
          <p:cNvSpPr/>
          <p:nvPr/>
        </p:nvSpPr>
        <p:spPr>
          <a:xfrm>
            <a:off x="1231626" y="13549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à double persistance</a:t>
            </a:r>
            <a:endParaRPr lang="en-US" sz="1600" dirty="0"/>
          </a:p>
        </p:txBody>
      </p:sp>
      <p:sp>
        <p:nvSpPr>
          <p:cNvPr id="501" name="VLine"/>
          <p:cNvSpPr/>
          <p:nvPr/>
        </p:nvSpPr>
        <p:spPr>
          <a:xfrm>
            <a:off x="1277223" y="2001141"/>
            <a:ext cx="0" cy="1508838"/>
          </a:xfrm>
          <a:prstGeom prst="line">
            <a:avLst/>
          </a:prstGeom>
          <a:noFill/>
          <a:ln w="19050">
            <a:solidFill>
              <a:srgbClr val="BFE3CD"/>
            </a:solidFill>
            <a:prstDash val="solid"/>
          </a:ln>
        </p:spPr>
      </p:sp>
      <p:sp>
        <p:nvSpPr>
          <p:cNvPr id="502" name="Badge"/>
          <p:cNvSpPr/>
          <p:nvPr/>
        </p:nvSpPr>
        <p:spPr>
          <a:xfrm>
            <a:off x="1097223" y="1821141"/>
            <a:ext cx="360000" cy="3600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03" name="Num"/>
          <p:cNvSpPr/>
          <p:nvPr/>
        </p:nvSpPr>
        <p:spPr>
          <a:xfrm>
            <a:off x="1097223" y="1821141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100" dirty="0"/>
          </a:p>
        </p:txBody>
      </p:sp>
      <p:sp>
        <p:nvSpPr>
          <p:cNvPr id="504" name="StepText"/>
          <p:cNvSpPr/>
          <p:nvPr/>
        </p:nvSpPr>
        <p:spPr>
          <a:xfrm>
            <a:off x="1657223" y="1749668"/>
            <a:ext cx="4403080" cy="502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08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fr-FR" sz="1080" dirty="0"/>
          </a:p>
          <a:p>
            <a:pPr marL="0" indent="0" algn="l">
              <a:spcAft>
                <a:spcPts val="200"/>
              </a:spcAft>
              <a:buNone/>
            </a:pPr>
            <a:r>
              <a:rPr lang="fr-FR" sz="9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Chronométrage de la requête + résultat (maladie, confiance)</a:t>
            </a:r>
            <a:endParaRPr lang="fr-FR" sz="900" dirty="0"/>
          </a:p>
        </p:txBody>
      </p:sp>
      <p:sp>
        <p:nvSpPr>
          <p:cNvPr id="505" name="Badge"/>
          <p:cNvSpPr/>
          <p:nvPr/>
        </p:nvSpPr>
        <p:spPr>
          <a:xfrm>
            <a:off x="1097223" y="2324087"/>
            <a:ext cx="360000" cy="3600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06" name="Num"/>
          <p:cNvSpPr/>
          <p:nvPr/>
        </p:nvSpPr>
        <p:spPr>
          <a:xfrm>
            <a:off x="1097223" y="2324087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100" dirty="0"/>
          </a:p>
        </p:txBody>
      </p:sp>
      <p:sp>
        <p:nvSpPr>
          <p:cNvPr id="507" name="StepText"/>
          <p:cNvSpPr/>
          <p:nvPr/>
        </p:nvSpPr>
        <p:spPr>
          <a:xfrm>
            <a:off x="1657223" y="2252614"/>
            <a:ext cx="4403080" cy="502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08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persistance</a:t>
            </a:r>
            <a:endParaRPr lang="fr-FR" sz="1080" dirty="0"/>
          </a:p>
          <a:p>
            <a:pPr marL="0" indent="0" algn="l">
              <a:spcAft>
                <a:spcPts val="200"/>
              </a:spcAft>
              <a:buNone/>
            </a:pPr>
            <a:r>
              <a:rPr lang="fr-FR" sz="9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(MetricsStore) + disque (logs/predictions.csv)</a:t>
            </a:r>
            <a:endParaRPr lang="fr-FR" sz="900" dirty="0"/>
          </a:p>
        </p:txBody>
      </p:sp>
      <p:sp>
        <p:nvSpPr>
          <p:cNvPr id="508" name="Badge"/>
          <p:cNvSpPr/>
          <p:nvPr/>
        </p:nvSpPr>
        <p:spPr>
          <a:xfrm>
            <a:off x="1097223" y="2827033"/>
            <a:ext cx="360000" cy="3600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09" name="Num"/>
          <p:cNvSpPr/>
          <p:nvPr/>
        </p:nvSpPr>
        <p:spPr>
          <a:xfrm>
            <a:off x="1097223" y="2827033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100" dirty="0"/>
          </a:p>
        </p:txBody>
      </p:sp>
      <p:sp>
        <p:nvSpPr>
          <p:cNvPr id="510" name="StepText"/>
          <p:cNvSpPr/>
          <p:nvPr/>
        </p:nvSpPr>
        <p:spPr>
          <a:xfrm>
            <a:off x="1657223" y="2755560"/>
            <a:ext cx="4403080" cy="502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08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fr-FR" sz="1080" dirty="0"/>
          </a:p>
          <a:p>
            <a:pPr marL="0" indent="0" algn="l">
              <a:spcAft>
                <a:spcPts val="200"/>
              </a:spcAft>
              <a:buNone/>
            </a:pPr>
            <a:r>
              <a:rPr lang="fr-FR" sz="9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 lit les agrégats en mémoire, réponse instantanée</a:t>
            </a:r>
            <a:endParaRPr lang="fr-FR" sz="900" dirty="0"/>
          </a:p>
        </p:txBody>
      </p:sp>
      <p:sp>
        <p:nvSpPr>
          <p:cNvPr id="511" name="Badge"/>
          <p:cNvSpPr/>
          <p:nvPr/>
        </p:nvSpPr>
        <p:spPr>
          <a:xfrm>
            <a:off x="1097223" y="3329979"/>
            <a:ext cx="360000" cy="360000"/>
          </a:xfrm>
          <a:prstGeom prst="ellipse">
            <a:avLst/>
          </a:prstGeom>
          <a:solidFill>
            <a:srgbClr val="40916C"/>
          </a:solidFill>
          <a:ln/>
        </p:spPr>
      </p:sp>
      <p:sp>
        <p:nvSpPr>
          <p:cNvPr id="512" name="Num"/>
          <p:cNvSpPr/>
          <p:nvPr/>
        </p:nvSpPr>
        <p:spPr>
          <a:xfrm>
            <a:off x="1097223" y="3329979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100" dirty="0"/>
          </a:p>
        </p:txBody>
      </p:sp>
      <p:sp>
        <p:nvSpPr>
          <p:cNvPr id="513" name="StepText"/>
          <p:cNvSpPr/>
          <p:nvPr/>
        </p:nvSpPr>
        <p:spPr>
          <a:xfrm>
            <a:off x="1657223" y="3258506"/>
            <a:ext cx="4403080" cy="502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fr-FR" sz="108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</a:t>
            </a:r>
            <a:endParaRPr lang="fr-FR" sz="1080" dirty="0"/>
          </a:p>
          <a:p>
            <a:pPr marL="0" indent="0" algn="l">
              <a:spcAft>
                <a:spcPts val="200"/>
              </a:spcAft>
              <a:buNone/>
            </a:pPr>
            <a:r>
              <a:rPr lang="fr-FR" sz="9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Écriture protégée (try/except)   l'API ne casse jamais</a:t>
            </a:r>
            <a:endParaRPr lang="fr-FR" sz="9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70F15931-EB7A-7CCE-03D6-33EBCB87E8E8}"/>
              </a:ext>
            </a:extLst>
          </p:cNvPr>
          <p:cNvSpPr/>
          <p:nvPr/>
        </p:nvSpPr>
        <p:spPr>
          <a:xfrm>
            <a:off x="600187" y="4096894"/>
            <a:ext cx="5161208" cy="2606198"/>
          </a:xfrm>
          <a:prstGeom prst="roundRect">
            <a:avLst>
              <a:gd name="adj" fmla="val 2687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2477322-5A13-D13E-9CBF-CF409367D03B}"/>
              </a:ext>
            </a:extLst>
          </p:cNvPr>
          <p:cNvSpPr/>
          <p:nvPr/>
        </p:nvSpPr>
        <p:spPr>
          <a:xfrm>
            <a:off x="852850" y="4151652"/>
            <a:ext cx="4305837" cy="255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logs/predictions.csv</a:t>
            </a:r>
            <a:endParaRPr lang="en-US" sz="11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4E8069E-2A17-B9CA-FC66-BADEBEB455E4}"/>
              </a:ext>
            </a:extLst>
          </p:cNvPr>
          <p:cNvSpPr/>
          <p:nvPr/>
        </p:nvSpPr>
        <p:spPr>
          <a:xfrm>
            <a:off x="852850" y="4462654"/>
            <a:ext cx="4299985" cy="678184"/>
          </a:xfrm>
          <a:prstGeom prst="roundRect">
            <a:avLst>
              <a:gd name="adj" fmla="val 7059"/>
            </a:avLst>
          </a:prstGeom>
          <a:solidFill>
            <a:srgbClr val="0F2E22"/>
          </a:solidFill>
          <a:ln/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08B385B-147D-7E00-E453-CD6DF08599D7}"/>
              </a:ext>
            </a:extLst>
          </p:cNvPr>
          <p:cNvSpPr/>
          <p:nvPr/>
        </p:nvSpPr>
        <p:spPr>
          <a:xfrm>
            <a:off x="954902" y="4499230"/>
            <a:ext cx="4806493" cy="622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timestamp, latency_ms, disease, confidence</a:t>
            </a:r>
            <a:endParaRPr lang="en-US" sz="105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050" dirty="0">
                <a:solidFill>
                  <a:srgbClr val="95D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2026-09-06T21:35:43Z, 320.5, Mildiou, 0.95</a:t>
            </a:r>
            <a:endParaRPr lang="en-US" sz="10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BE28A3E-742A-1DB2-CA0D-07FAC996D7C8}"/>
              </a:ext>
            </a:extLst>
          </p:cNvPr>
          <p:cNvSpPr/>
          <p:nvPr/>
        </p:nvSpPr>
        <p:spPr>
          <a:xfrm>
            <a:off x="846998" y="5233078"/>
            <a:ext cx="4305837" cy="2393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réelle — GET /metrics</a:t>
            </a:r>
            <a:endParaRPr lang="en-US" sz="10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2DD1392-6894-E8EB-9CFF-23C1341D783E}"/>
              </a:ext>
            </a:extLst>
          </p:cNvPr>
          <p:cNvSpPr/>
          <p:nvPr/>
        </p:nvSpPr>
        <p:spPr>
          <a:xfrm>
            <a:off x="777544" y="5558418"/>
            <a:ext cx="4645125" cy="1023416"/>
          </a:xfrm>
          <a:prstGeom prst="roundRect">
            <a:avLst>
              <a:gd name="adj" fmla="val 5217"/>
            </a:avLst>
          </a:prstGeom>
          <a:solidFill>
            <a:srgbClr val="0F2E2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34AAF0A-C02E-474B-F762-6D55D76BA71F}"/>
              </a:ext>
            </a:extLst>
          </p:cNvPr>
          <p:cNvSpPr/>
          <p:nvPr/>
        </p:nvSpPr>
        <p:spPr>
          <a:xfrm>
            <a:off x="824862" y="5637504"/>
            <a:ext cx="4806493" cy="1075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"total_requests": 5,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"average_latency_ms": 947.7,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"disease_distribution": {"Saine":2,"Acariens":2,"Mildiou":1}</a:t>
            </a:r>
            <a:endParaRPr lang="en-US" sz="950" dirty="0"/>
          </a:p>
          <a:p>
            <a:pPr marL="0" indent="0">
              <a:lnSpc>
                <a:spcPts val="11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F663D40-ECC4-E7A6-1125-CBA6572CA687}"/>
              </a:ext>
            </a:extLst>
          </p:cNvPr>
          <p:cNvSpPr/>
          <p:nvPr/>
        </p:nvSpPr>
        <p:spPr>
          <a:xfrm>
            <a:off x="7534053" y="4826275"/>
            <a:ext cx="4106493" cy="453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 Extrait de logs/predictions.csv en conditions réelles d'utilisation</a:t>
            </a:r>
            <a:endParaRPr lang="en-US" sz="1200" b="1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9F2B19CF-970E-5780-1D0A-B903A4CF3203}"/>
              </a:ext>
            </a:extLst>
          </p:cNvPr>
          <p:cNvSpPr/>
          <p:nvPr/>
        </p:nvSpPr>
        <p:spPr>
          <a:xfrm>
            <a:off x="6690890" y="6936857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680F048-E3F5-8E3E-B571-2D52BE4221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90" y="1354940"/>
            <a:ext cx="4661240" cy="330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134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 : DRIFT DETECTION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 dérive des données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2654" y="1672032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3822" y="1854912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7" name="Image 0" descr="/tmp/deck/assets/icons/barchart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70" y="1916360"/>
            <a:ext cx="316017" cy="3160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3012" y="18451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caractéristiques comparées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3822" y="2540712"/>
            <a:ext cx="30814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Luminosité globale + moyennes des canaux rouge, vert, bleu, calculées pour chaque image.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05702" y="1672032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06870" y="1854912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2" name="Image 1" descr="/tmp/deck/assets/icons/target_1B43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8318" y="1916360"/>
            <a:ext cx="316017" cy="3160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32360" y="1833613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Jeux de données comparés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06870" y="2448112"/>
            <a:ext cx="29838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: data/processed/train (repli data/raw) vs actuel : data/new_data (nouvelles images).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18750" y="1672032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19918" y="1854912"/>
            <a:ext cx="438912" cy="438912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17" name="Image 2" descr="/tmp/deck/assets/icons/trendingup_1B43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366" y="1916360"/>
            <a:ext cx="316017" cy="3160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56983" y="182203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Kolmogorov-Smirnov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19918" y="2540712"/>
            <a:ext cx="32095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scipy.stats.ks_2samp calcule une p-value par caractéristique : p &lt; 0.05 → dérive détectée.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73992" y="3778887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02592" y="3980055"/>
            <a:ext cx="457200" cy="4572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2" name="Image 3" descr="/tmp/deck/assets/icons/eye_1B43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600" y="4044063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73802" y="407450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Piège technique résolu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02592" y="4345815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526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Windows, *.jpg et *.JPG désignent les mêmes fichiers : une recherche séparée créait des doublons, faussant les moyennes. Corrigé par déduplication (set) dans collect_features().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65506" y="3750895"/>
            <a:ext cx="5468112" cy="1783080"/>
          </a:xfrm>
          <a:prstGeom prst="roundRect">
            <a:avLst>
              <a:gd name="adj" fmla="val 4615"/>
            </a:avLst>
          </a:prstGeom>
          <a:solidFill>
            <a:srgbClr val="1B4332"/>
          </a:solidFill>
          <a:ln/>
        </p:spPr>
      </p:sp>
      <p:sp>
        <p:nvSpPr>
          <p:cNvPr id="26" name="Shape 20"/>
          <p:cNvSpPr/>
          <p:nvPr/>
        </p:nvSpPr>
        <p:spPr>
          <a:xfrm>
            <a:off x="6494106" y="3952063"/>
            <a:ext cx="457200" cy="45720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27" name="Image 4" descr="/tmp/deck/assets/icons/alertcircle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8114" y="4016071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76891" y="404651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 et tests automatisés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494106" y="4317823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200" dirty="0">
                <a:solidFill>
                  <a:srgbClr val="E4F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drift détecté est un signal statistique à investiguer, pas une preuve que le modèle a failli. tests/test_drift.py valide : données identiques → aucun drift ; écart artificiel de moyenne → drift détecté sur toutes les caractéristiques.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B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600" b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8 — DRIFT DETECTION</a:t>
            </a:r>
            <a:endParaRPr lang="fr-FR" sz="1600" dirty="0"/>
          </a:p>
        </p:txBody>
      </p:sp>
      <p:sp>
        <p:nvSpPr>
          <p:cNvPr id="202" name="TB"/>
          <p:cNvSpPr/>
          <p:nvPr/>
        </p:nvSpPr>
        <p:spPr>
          <a:xfrm>
            <a:off x="548640" y="676656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fr-FR" sz="2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réelle  deux scénarios testés</a:t>
            </a:r>
            <a:endParaRPr lang="fr-FR" sz="2600" dirty="0"/>
          </a:p>
        </p:txBody>
      </p:sp>
      <p:sp>
        <p:nvSpPr>
          <p:cNvPr id="204" name="Box"/>
          <p:cNvSpPr/>
          <p:nvPr/>
        </p:nvSpPr>
        <p:spPr>
          <a:xfrm>
            <a:off x="393184" y="1468636"/>
            <a:ext cx="7800000" cy="360000"/>
          </a:xfrm>
          <a:prstGeom prst="roundRect">
            <a:avLst>
              <a:gd name="adj" fmla="val 14000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05" name="Circle"/>
          <p:cNvSpPr/>
          <p:nvPr/>
        </p:nvSpPr>
        <p:spPr>
          <a:xfrm>
            <a:off x="463184" y="1518636"/>
            <a:ext cx="260000" cy="2600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06" name="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84" y="1565436"/>
            <a:ext cx="166400" cy="166400"/>
          </a:xfrm>
          <a:prstGeom prst="rect">
            <a:avLst/>
          </a:prstGeom>
        </p:spPr>
      </p:pic>
      <p:sp>
        <p:nvSpPr>
          <p:cNvPr id="207" name="TB"/>
          <p:cNvSpPr/>
          <p:nvPr/>
        </p:nvSpPr>
        <p:spPr>
          <a:xfrm>
            <a:off x="903184" y="1468636"/>
            <a:ext cx="71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1 — images normales → aucune dérive détectée</a:t>
            </a:r>
            <a:endParaRPr lang="fr-FR" sz="1200" dirty="0"/>
          </a:p>
        </p:txBody>
      </p:sp>
      <p:sp>
        <p:nvSpPr>
          <p:cNvPr id="208" name="Box"/>
          <p:cNvSpPr/>
          <p:nvPr/>
        </p:nvSpPr>
        <p:spPr>
          <a:xfrm>
            <a:off x="393184" y="1868636"/>
            <a:ext cx="7800000" cy="1377717"/>
          </a:xfrm>
          <a:prstGeom prst="roundRect">
            <a:avLst>
              <a:gd name="adj" fmla="val 2500"/>
            </a:avLst>
          </a:prstGeom>
          <a:solidFill>
            <a:srgbClr val="1B2E28"/>
          </a:solidFill>
          <a:ln w="12700">
            <a:solidFill>
              <a:srgbClr val="DCE6E0"/>
            </a:solidFill>
            <a:prstDash val="solid"/>
          </a:ln>
        </p:spPr>
      </p:sp>
      <p:pic>
        <p:nvPicPr>
          <p:cNvPr id="209" name="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84" y="1898636"/>
            <a:ext cx="7740000" cy="1317717"/>
          </a:xfrm>
          <a:prstGeom prst="rect">
            <a:avLst/>
          </a:prstGeom>
        </p:spPr>
      </p:pic>
      <p:sp>
        <p:nvSpPr>
          <p:cNvPr id="210" name="Box"/>
          <p:cNvSpPr/>
          <p:nvPr/>
        </p:nvSpPr>
        <p:spPr>
          <a:xfrm>
            <a:off x="4099445" y="3638334"/>
            <a:ext cx="7800000" cy="360000"/>
          </a:xfrm>
          <a:prstGeom prst="roundRect">
            <a:avLst>
              <a:gd name="adj" fmla="val 14000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211" name="Circle"/>
          <p:cNvSpPr/>
          <p:nvPr/>
        </p:nvSpPr>
        <p:spPr>
          <a:xfrm>
            <a:off x="4169445" y="3688334"/>
            <a:ext cx="260000" cy="26000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212" name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245" y="3735134"/>
            <a:ext cx="166400" cy="166400"/>
          </a:xfrm>
          <a:prstGeom prst="rect">
            <a:avLst/>
          </a:prstGeom>
        </p:spPr>
      </p:pic>
      <p:sp>
        <p:nvSpPr>
          <p:cNvPr id="213" name="TB"/>
          <p:cNvSpPr/>
          <p:nvPr/>
        </p:nvSpPr>
        <p:spPr>
          <a:xfrm>
            <a:off x="4609445" y="3638334"/>
            <a:ext cx="714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2 — images assombries (simulate_drift.py) → dérive détectée sur les 4 caractéristiques</a:t>
            </a:r>
            <a:endParaRPr lang="fr-FR" sz="1200" dirty="0"/>
          </a:p>
        </p:txBody>
      </p:sp>
      <p:sp>
        <p:nvSpPr>
          <p:cNvPr id="214" name="Box"/>
          <p:cNvSpPr/>
          <p:nvPr/>
        </p:nvSpPr>
        <p:spPr>
          <a:xfrm>
            <a:off x="4099445" y="4038334"/>
            <a:ext cx="7800000" cy="2006521"/>
          </a:xfrm>
          <a:prstGeom prst="roundRect">
            <a:avLst>
              <a:gd name="adj" fmla="val 2500"/>
            </a:avLst>
          </a:prstGeom>
          <a:solidFill>
            <a:srgbClr val="1B2E28"/>
          </a:solidFill>
          <a:ln w="12700">
            <a:solidFill>
              <a:srgbClr val="DCE6E0"/>
            </a:solidFill>
            <a:prstDash val="solid"/>
          </a:ln>
        </p:spPr>
      </p:sp>
      <p:pic>
        <p:nvPicPr>
          <p:cNvPr id="215" name="Screensh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9445" y="4068334"/>
            <a:ext cx="7740000" cy="1946521"/>
          </a:xfrm>
          <a:prstGeom prst="rect">
            <a:avLst/>
          </a:prstGeom>
        </p:spPr>
      </p:pic>
      <p:sp>
        <p:nvSpPr>
          <p:cNvPr id="216" name="TB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plantes — MLOps</a:t>
            </a:r>
            <a:endParaRPr lang="fr-FR" sz="900" dirty="0"/>
          </a:p>
        </p:txBody>
      </p:sp>
      <p:sp>
        <p:nvSpPr>
          <p:cNvPr id="217" name="TB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fr-FR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B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F3F8F5"/>
          </a:solidFill>
          <a:ln w="12700">
            <a:solidFill>
              <a:srgbClr val="DCE6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D8F3DC"/>
          </a:solidFill>
          <a:ln/>
        </p:spPr>
      </p:sp>
      <p:pic>
        <p:nvPicPr>
          <p:cNvPr id="6" name="Image 0" descr="/tmp/deck/assets/icons/alerttriangle_1B43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9" y="1972361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47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1B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en conditions contrôlées (fond neutre, éclairage homogène), à écart avec le terrain réel</a:t>
            </a:r>
            <a:endParaRPr lang="en-US" sz="1400" dirty="0"/>
          </a:p>
          <a:p>
            <a:pPr marL="177800" indent="-177800">
              <a:lnSpc>
                <a:spcPct val="100000"/>
              </a:lnSpc>
              <a:spcAft>
                <a:spcPts val="1500"/>
              </a:spcAft>
              <a:buSzPct val="100000"/>
              <a:buFontTx/>
              <a:buChar char="▪"/>
            </a:pPr>
            <a:r>
              <a:rPr lang="fr-FR" sz="1400" b="1" dirty="0" err="1"/>
              <a:t>Dataset</a:t>
            </a:r>
            <a:r>
              <a:rPr lang="fr-FR" sz="1400" b="1" dirty="0"/>
              <a:t> limité aux classes de </a:t>
            </a:r>
            <a:r>
              <a:rPr lang="fr-FR" sz="1400" b="1" dirty="0" err="1"/>
              <a:t>PlantVillage</a:t>
            </a:r>
            <a:r>
              <a:rPr lang="fr-FR" sz="1400" dirty="0"/>
              <a:t> — le modèle ne reconnaît que les maladies qu'il a vues à l'entraînement (15 classes), pas toutes les maladies possibles sur le terrain.</a:t>
            </a:r>
            <a:endParaRPr lang="en-US" sz="1400" dirty="0">
              <a:solidFill>
                <a:srgbClr val="1B2E2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ct val="100000"/>
              </a:lnSpc>
              <a:spcAft>
                <a:spcPts val="1500"/>
              </a:spcAft>
              <a:buSzPct val="100000"/>
              <a:buChar char="▪"/>
            </a:pPr>
            <a:r>
              <a:rPr lang="fr-FR" sz="1400" b="1" dirty="0"/>
              <a:t>Le drift ne regarde que la couleur/luminosité</a:t>
            </a:r>
            <a:r>
              <a:rPr lang="fr-FR" sz="1400" dirty="0"/>
              <a:t> — deux images très différentes visuellement (fond, feuille) mais avec une couleur moyenne proche pourraient passer inaperçues.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468112" cy="4434840"/>
          </a:xfrm>
          <a:prstGeom prst="roundRect">
            <a:avLst>
              <a:gd name="adj" fmla="val 1856"/>
            </a:avLst>
          </a:prstGeom>
          <a:solidFill>
            <a:srgbClr val="1B4332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901952"/>
            <a:ext cx="502920" cy="50292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1" name="Image 1" descr="/tmp/deck/assets/icons/fl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209" y="1972361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947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514600"/>
            <a:ext cx="5074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de rétroaction continue : réentraîner le modèle avec les images réelles archivées dans data/new_data</a:t>
            </a:r>
            <a:endParaRPr lang="en-US" sz="1400" dirty="0"/>
          </a:p>
          <a:p>
            <a:pPr marL="177800" indent="-177800">
              <a:lnSpc>
                <a:spcPts val="1800"/>
              </a:lnSpc>
              <a:spcAft>
                <a:spcPts val="15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Migrer le stockage des artefacts MLflow vers une solution plus portable (registre distant / S3)</a:t>
            </a:r>
          </a:p>
          <a:p>
            <a:pPr marL="177800" indent="-177800">
              <a:lnSpc>
                <a:spcPct val="100000"/>
              </a:lnSpc>
              <a:spcAft>
                <a:spcPts val="1500"/>
              </a:spcAft>
              <a:buSzPct val="100000"/>
              <a:buChar char="▪"/>
            </a:pPr>
            <a:r>
              <a:rPr lang="fr-FR" sz="1400" b="1" dirty="0">
                <a:solidFill>
                  <a:schemeClr val="bg1"/>
                </a:solidFill>
              </a:rPr>
              <a:t>Ajouter un vrai </a:t>
            </a:r>
            <a:r>
              <a:rPr lang="fr-FR" sz="1400" b="1" dirty="0" err="1">
                <a:solidFill>
                  <a:schemeClr val="bg1"/>
                </a:solidFill>
              </a:rPr>
              <a:t>dashboard</a:t>
            </a:r>
            <a:r>
              <a:rPr lang="fr-FR" sz="1400" b="1" dirty="0">
                <a:solidFill>
                  <a:schemeClr val="bg1"/>
                </a:solidFill>
              </a:rPr>
              <a:t> de supervision</a:t>
            </a:r>
            <a:r>
              <a:rPr lang="fr-FR" sz="1400" dirty="0">
                <a:solidFill>
                  <a:schemeClr val="bg1"/>
                </a:solidFill>
              </a:rPr>
              <a:t> (type </a:t>
            </a:r>
            <a:r>
              <a:rPr lang="fr-FR" sz="1400" dirty="0" err="1">
                <a:solidFill>
                  <a:schemeClr val="bg1"/>
                </a:solidFill>
              </a:rPr>
              <a:t>Grafana</a:t>
            </a:r>
            <a:r>
              <a:rPr lang="fr-FR" sz="1400" dirty="0">
                <a:solidFill>
                  <a:schemeClr val="bg1"/>
                </a:solidFill>
              </a:rPr>
              <a:t>) au lieu du simple JSON </a:t>
            </a:r>
            <a:r>
              <a:rPr lang="fr-FR" dirty="0">
                <a:solidFill>
                  <a:schemeClr val="bg1"/>
                </a:solidFill>
              </a:rPr>
              <a:t>/</a:t>
            </a:r>
            <a:r>
              <a:rPr lang="fr-FR" dirty="0" err="1">
                <a:solidFill>
                  <a:schemeClr val="bg1"/>
                </a:solidFill>
              </a:rPr>
              <a:t>metrics</a:t>
            </a:r>
            <a:r>
              <a:rPr lang="fr-FR" sz="1400" dirty="0">
                <a:solidFill>
                  <a:schemeClr val="bg1"/>
                </a:solidFill>
              </a:rPr>
              <a:t>.</a:t>
            </a:r>
          </a:p>
          <a:p>
            <a:pPr marL="177800" indent="-177800">
              <a:spcAft>
                <a:spcPts val="1500"/>
              </a:spcAft>
              <a:buSzPct val="100000"/>
              <a:buFontTx/>
              <a:buChar char="▪"/>
            </a:pPr>
            <a:r>
              <a:rPr lang="fr-FR" sz="1400" b="1" dirty="0">
                <a:solidFill>
                  <a:schemeClr val="bg1"/>
                </a:solidFill>
              </a:rPr>
              <a:t>Enrichir le drift</a:t>
            </a:r>
            <a:r>
              <a:rPr lang="fr-FR" sz="1400" dirty="0">
                <a:solidFill>
                  <a:schemeClr val="bg1"/>
                </a:solidFill>
              </a:rPr>
              <a:t> avec des critères plus sémantiques (</a:t>
            </a:r>
            <a:r>
              <a:rPr lang="fr-FR" sz="1400" dirty="0" err="1">
                <a:solidFill>
                  <a:schemeClr val="bg1"/>
                </a:solidFill>
              </a:rPr>
              <a:t>embeddings</a:t>
            </a:r>
            <a:r>
              <a:rPr lang="fr-FR" sz="1400" dirty="0">
                <a:solidFill>
                  <a:schemeClr val="bg1"/>
                </a:solidFill>
              </a:rPr>
              <a:t> du modèle) plutôt que juste couleur/luminosité, ou intégrer </a:t>
            </a:r>
            <a:r>
              <a:rPr lang="fr-FR" sz="1400" dirty="0" err="1">
                <a:solidFill>
                  <a:schemeClr val="bg1"/>
                </a:solidFill>
              </a:rPr>
              <a:t>Evidently</a:t>
            </a:r>
            <a:r>
              <a:rPr lang="fr-FR" sz="1400" dirty="0">
                <a:solidFill>
                  <a:schemeClr val="bg1"/>
                </a:solidFill>
              </a:rPr>
              <a:t> AI pour un vrai rapport visuel.</a:t>
            </a:r>
          </a:p>
          <a:p>
            <a:pPr marL="177800" indent="-177800">
              <a:lnSpc>
                <a:spcPct val="100000"/>
              </a:lnSpc>
              <a:spcAft>
                <a:spcPts val="1500"/>
              </a:spcAft>
              <a:buSzPct val="100000"/>
              <a:buChar char="▪"/>
            </a:pPr>
            <a:endParaRPr lang="en-U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7800" indent="-177800">
              <a:lnSpc>
                <a:spcPts val="1800"/>
              </a:lnSpc>
              <a:spcAft>
                <a:spcPts val="1500"/>
              </a:spcAft>
              <a:buSzPct val="100000"/>
              <a:buChar char="▪"/>
            </a:pP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3">
            <a:extLst>
              <a:ext uri="{FF2B5EF4-FFF2-40B4-BE49-F238E27FC236}">
                <a16:creationId xmlns:a16="http://schemas.microsoft.com/office/drawing/2014/main" id="{5D07576A-C074-0138-6FFB-A248CA302301}"/>
              </a:ext>
            </a:extLst>
          </p:cNvPr>
          <p:cNvSpPr/>
          <p:nvPr/>
        </p:nvSpPr>
        <p:spPr>
          <a:xfrm>
            <a:off x="3044890" y="1879092"/>
            <a:ext cx="6102220" cy="3685032"/>
          </a:xfrm>
          <a:prstGeom prst="roundRect">
            <a:avLst>
              <a:gd name="adj" fmla="val 1978"/>
            </a:avLst>
          </a:prstGeom>
          <a:solidFill>
            <a:srgbClr val="204A38"/>
          </a:solidFill>
          <a:ln/>
        </p:spPr>
      </p:sp>
      <p:sp>
        <p:nvSpPr>
          <p:cNvPr id="2" name="Text 0"/>
          <p:cNvSpPr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68917" y="12298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générale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259494" y="2289801"/>
            <a:ext cx="5673012" cy="2860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2000"/>
              </a:spcAft>
              <a:buSzPct val="100000"/>
              <a:buFontTx/>
              <a:buChar char="▪"/>
            </a:pPr>
            <a:r>
              <a:rPr lang="fr-FR" sz="1400" dirty="0">
                <a:solidFill>
                  <a:schemeClr val="bg1"/>
                </a:solidFill>
              </a:rPr>
              <a:t>Un pipeline </a:t>
            </a:r>
            <a:r>
              <a:rPr lang="fr-FR" sz="1400" dirty="0" err="1">
                <a:solidFill>
                  <a:schemeClr val="bg1"/>
                </a:solidFill>
              </a:rPr>
              <a:t>MLOps</a:t>
            </a:r>
            <a:r>
              <a:rPr lang="fr-FR" sz="1400" dirty="0">
                <a:solidFill>
                  <a:schemeClr val="bg1"/>
                </a:solidFill>
              </a:rPr>
              <a:t> de bout en bout, de la donnée brute au modèle déployé, construit par huit étudiants.</a:t>
            </a:r>
          </a:p>
          <a:p>
            <a:pPr marL="177800" indent="-177800">
              <a:lnSpc>
                <a:spcPts val="1800"/>
              </a:lnSpc>
              <a:spcAft>
                <a:spcPts val="2000"/>
              </a:spcAft>
              <a:buSzPct val="100000"/>
              <a:buChar char="▪"/>
            </a:pPr>
            <a:r>
              <a:rPr lang="fr-FR" sz="1400" dirty="0">
                <a:solidFill>
                  <a:schemeClr val="bg1"/>
                </a:solidFill>
              </a:rPr>
              <a:t>Chaque étape a été construite selon les standards du domaine :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reproductibilité, traçabilité, tests systématiques et supervision continue.</a:t>
            </a:r>
          </a:p>
          <a:p>
            <a:pPr marL="177800" indent="-177800">
              <a:lnSpc>
                <a:spcPct val="100000"/>
              </a:lnSpc>
              <a:spcAft>
                <a:spcPts val="2000"/>
              </a:spcAft>
              <a:buSzPct val="100000"/>
              <a:buChar char="▪"/>
            </a:pPr>
            <a:r>
              <a:rPr lang="fr-FR" sz="1600" dirty="0">
                <a:solidFill>
                  <a:schemeClr val="bg1"/>
                </a:solidFill>
              </a:rPr>
              <a:t>Ce projet a permis de couvrir l'ensemble de la chaîne </a:t>
            </a:r>
            <a:r>
              <a:rPr lang="fr-FR" sz="1600" dirty="0" err="1">
                <a:solidFill>
                  <a:schemeClr val="bg1"/>
                </a:solidFill>
              </a:rPr>
              <a:t>MLOps</a:t>
            </a:r>
            <a:r>
              <a:rPr lang="fr-FR" sz="1600" dirty="0">
                <a:solidFill>
                  <a:schemeClr val="bg1"/>
                </a:solidFill>
              </a:rPr>
              <a:t> : de la collecte des données brutes jusqu'au déploiement d'un modèle opérationnel, réalisé en équipe de huit étudiants.</a:t>
            </a:r>
          </a:p>
        </p:txBody>
      </p:sp>
      <p:sp>
        <p:nvSpPr>
          <p:cNvPr id="14" name="Text 12"/>
          <p:cNvSpPr/>
          <p:nvPr/>
        </p:nvSpPr>
        <p:spPr>
          <a:xfrm>
            <a:off x="548640" y="652881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</a:t>
            </a:r>
            <a:r>
              <a:rPr lang="en-US" sz="900" dirty="0" err="1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r>
              <a:rPr lang="en-US" sz="90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MLOps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8311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04A3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645920"/>
            <a:ext cx="3291840" cy="3291840"/>
          </a:xfrm>
          <a:prstGeom prst="ellipse">
            <a:avLst/>
          </a:prstGeom>
          <a:solidFill>
            <a:srgbClr val="204A38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3520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4251960"/>
            <a:ext cx="2377440" cy="0"/>
          </a:xfrm>
          <a:prstGeom prst="line">
            <a:avLst/>
          </a:prstGeom>
          <a:noFill/>
          <a:ln w="1905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6263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FE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des maladies des feuilles de plantes — Projet Intégrateur MLOps &amp; DataOps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2653</TotalTime>
  <Words>2873</Words>
  <Application>Microsoft Office PowerPoint</Application>
  <PresentationFormat>Grand écran</PresentationFormat>
  <Paragraphs>393</Paragraphs>
  <Slides>24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Plus Jakarta Sans</vt:lpstr>
      <vt:lpstr>Plus Jakarta Sans ExtraBold</vt:lpstr>
      <vt:lpstr>Plus Jakarta Sans Medium</vt:lpstr>
      <vt:lpstr>Plus Jakarta Sans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des maladies des feuilles de plantes</dc:title>
  <dc:subject>PptxGenJS Presentation</dc:subject>
  <dc:creator>Équipe Projet Intégrateur — MLOps &amp; DataOps</dc:creator>
  <cp:lastModifiedBy>Siham Salhi</cp:lastModifiedBy>
  <cp:revision>38</cp:revision>
  <dcterms:created xsi:type="dcterms:W3CDTF">2026-09-16T00:47:57Z</dcterms:created>
  <dcterms:modified xsi:type="dcterms:W3CDTF">2026-09-18T15:44:20Z</dcterms:modified>
</cp:coreProperties>
</file>